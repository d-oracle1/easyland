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05f783e-9a39-2029-4fae-87b826cac0e3}">
          <p14:sldIdLst>
            <p14:sldId id="256"/>
          </p14:sldIdLst>
        </p14:section>
        <p14:section name="The Company" id="{d4d67525-7b38-1210-a7de-3228a56bfd71}">
          <p14:sldIdLst>
            <p14:sldId id="257"/>
            <p14:sldId id="258"/>
          </p14:sldIdLst>
        </p14:section>
        <p14:section name="Harmony Gardens" id="{acd9bbe4-65d6-f10f-be89-a87c387d27fe}">
          <p14:sldIdLst>
            <p14:sldId id="259"/>
            <p14:sldId id="260"/>
            <p14:sldId id="261"/>
            <p14:sldId id="262"/>
          </p14:sldIdLst>
        </p14:section>
        <p14:section name="Buying" id="{4d9c3ced-5c04-f96a-dc4d-a4e3a5ddbbf3}">
          <p14:sldIdLst>
            <p14:sldId id="263"/>
            <p14:sldId id="264"/>
          </p14:sldIdLst>
        </p14:section>
        <p14:section name="Contact" id="{a503e152-bfaf-0222-2f92-d33696b1694c}">
          <p14:sldIdLst>
            <p14:sldId id="265"/>
            <p14:sldId id="266"/>
          </p14:sldIdLst>
        </p14:section>
        <p14:section name="Appendix (internal)" id="{4ac40a2f-0964-e678-9be9-603f8f9bcf5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visitors. Easyland is presented by Princy and Eddy Resources Nigeria Limited (RC 7378240). All information in this deck was supplied by the company; current details should be confirmed before any purchase.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company using its own words only. Do not add awards, credentials or performance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Vision, mission and core values as stated by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suggest that all 16 units are available. Current availability is to be confirmed by the company. Expected delivery Q1 2027 is pending confirmation.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exactly as printed on the supplied flyer. Do not calculate balances or instalments. The land price and bungalow price are separate offerings.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document types the company has identified. Nothing on this slide states that any document has been verified. Encourage buyers to arrange their own independent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construction images have been supplied yet. Add only dated images and label each one accurately.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cost items are to be confirmed by the company. Never display or read out bank details from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tone calm and factual. Nothing here implies that a document or assurance has already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assign responsibility to any named person until the company confirms it. No phone numbers or email addresses have been supplied.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 without pressure. Contact details will be added once verified and approved by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working slide. Delete or hide before the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Information supplied by the company; confirm current details before purchase.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38251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Information supplied by the company; confirm current details before purchase.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38251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Information supplied by the company; confirm current details before purchase.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344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COMPANY PRESENTATION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731520" y="169164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Easyland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Ownership Made Clear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Princy and Eddy Resources Nigeria Limited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RC 7378240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57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Featuring Harmony Gardens, Rivers State</a:t>
            </a:r>
            <a:endParaRPr lang="en-US" sz="1600" dirty="0"/>
          </a:p>
        </p:txBody>
      </p:sp>
      <p:pic>
        <p:nvPicPr>
          <p:cNvPr id="7" name="Company logo" descr="Princy &amp; Eddy Properti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63040"/>
            <a:ext cx="4023360" cy="2578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Company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Princy and Eddy Resources Nigeria Limited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29718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Established</a:t>
            </a:r>
            <a:endParaRPr lang="en-US" sz="3600" dirty="0"/>
          </a:p>
        </p:txBody>
      </p:sp>
      <p:sp>
        <p:nvSpPr>
          <p:cNvPr id="6" name="Card"/>
          <p:cNvSpPr/>
          <p:nvPr/>
        </p:nvSpPr>
        <p:spPr>
          <a:xfrm>
            <a:off x="3749040" y="1783080"/>
            <a:ext cx="3108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187452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A City”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Company ambition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8328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company describes its work as marketing, selling, and building lands and properties.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605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Sectors served</a:t>
            </a:r>
            <a:endParaRPr lang="en-US" sz="1400" dirty="0"/>
          </a:p>
        </p:txBody>
      </p:sp>
      <p:sp>
        <p:nvSpPr>
          <p:cNvPr id="10" name="Sector chip"/>
          <p:cNvSpPr txBox="1"/>
          <p:nvPr/>
        </p:nvSpPr>
        <p:spPr>
          <a:xfrm>
            <a:off x="548640" y="4526280"/>
            <a:ext cx="169164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Residential</a:t>
            </a:r>
            <a:endParaRPr lang="en-US" sz="1500" dirty="0"/>
          </a:p>
        </p:txBody>
      </p:sp>
      <p:sp>
        <p:nvSpPr>
          <p:cNvPr id="11" name="Sector chip"/>
          <p:cNvSpPr txBox="1"/>
          <p:nvPr/>
        </p:nvSpPr>
        <p:spPr>
          <a:xfrm>
            <a:off x="2423160" y="4526280"/>
            <a:ext cx="169164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Commercial</a:t>
            </a:r>
            <a:endParaRPr lang="en-US" sz="1500" dirty="0"/>
          </a:p>
        </p:txBody>
      </p:sp>
      <p:sp>
        <p:nvSpPr>
          <p:cNvPr id="12" name="Sector chip"/>
          <p:cNvSpPr txBox="1"/>
          <p:nvPr/>
        </p:nvSpPr>
        <p:spPr>
          <a:xfrm>
            <a:off x="4297680" y="4526280"/>
            <a:ext cx="169164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Investment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6636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Stated focus: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integrity, customer service, and technology-enabled access to property ownership.</a:t>
            </a:r>
            <a:endParaRPr lang="en-US" sz="1600" dirty="0"/>
          </a:p>
        </p:txBody>
      </p:sp>
      <p:sp>
        <p:nvSpPr>
          <p:cNvPr id="14" name="Portfolio card"/>
          <p:cNvSpPr/>
          <p:nvPr/>
        </p:nvSpPr>
        <p:spPr>
          <a:xfrm>
            <a:off x="7315200" y="1783080"/>
            <a:ext cx="4325112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35240" y="2011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Portfolio named by the company</a:t>
            </a:r>
            <a:endParaRPr lang="en-US" sz="1800" dirty="0"/>
          </a:p>
        </p:txBody>
      </p:sp>
      <p:sp>
        <p:nvSpPr>
          <p:cNvPr id="16" name="Icon circle"/>
          <p:cNvSpPr/>
          <p:nvPr/>
        </p:nvSpPr>
        <p:spPr>
          <a:xfrm>
            <a:off x="7635240" y="26974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3548" y="2875788"/>
            <a:ext cx="329184" cy="32918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503920" y="26974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Salvation View Estate</a:t>
            </a:r>
            <a:endParaRPr lang="en-US" sz="1700" dirty="0"/>
          </a:p>
        </p:txBody>
      </p:sp>
      <p:sp>
        <p:nvSpPr>
          <p:cNvPr id="19" name="Icon circle"/>
          <p:cNvSpPr/>
          <p:nvPr/>
        </p:nvSpPr>
        <p:spPr>
          <a:xfrm>
            <a:off x="7635240" y="370332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548" y="38816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03920" y="37033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Savannah Estate</a:t>
            </a:r>
            <a:endParaRPr lang="en-US" sz="1700" dirty="0"/>
          </a:p>
        </p:txBody>
      </p:sp>
      <p:sp>
        <p:nvSpPr>
          <p:cNvPr id="22" name="Icon circle"/>
          <p:cNvSpPr/>
          <p:nvPr/>
        </p:nvSpPr>
        <p:spPr>
          <a:xfrm>
            <a:off x="7635240" y="470916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548" y="488746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503920" y="4709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Harmony Gardens Estate and Apartments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Vision, Mission, and Values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3949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 be a preferred real estate company in the region, delivering sustainable solutions and value to stakeholders, and providing genuine and affordable lands and properties while promoting safety, efficiency, and environmental stewardship.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371600"/>
            <a:ext cx="53949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6519672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318" y="174284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28600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 make property ownership seamless, secure, and rewarding through transparent processes, innovative marketing, and a client-first approach.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values</a:t>
            </a:r>
            <a:endParaRPr lang="en-US" sz="2000" dirty="0"/>
          </a:p>
        </p:txBody>
      </p:sp>
      <p:sp>
        <p:nvSpPr>
          <p:cNvPr id="14" name="Value tile"/>
          <p:cNvSpPr/>
          <p:nvPr/>
        </p:nvSpPr>
        <p:spPr>
          <a:xfrm>
            <a:off x="548640" y="4709160"/>
            <a:ext cx="2035454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1246327" y="4846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" descr="Integr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48" y="501274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0080" y="5559552"/>
            <a:ext cx="18525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Integrity</a:t>
            </a:r>
            <a:endParaRPr lang="en-US" sz="1600" dirty="0"/>
          </a:p>
        </p:txBody>
      </p:sp>
      <p:sp>
        <p:nvSpPr>
          <p:cNvPr id="18" name="Value tile"/>
          <p:cNvSpPr/>
          <p:nvPr/>
        </p:nvSpPr>
        <p:spPr>
          <a:xfrm>
            <a:off x="2812694" y="4709160"/>
            <a:ext cx="2035454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3510382" y="4846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" descr="Customer foc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802" y="501274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904134" y="5559552"/>
            <a:ext cx="18525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focus</a:t>
            </a:r>
            <a:endParaRPr lang="en-US" sz="1600" dirty="0"/>
          </a:p>
        </p:txBody>
      </p:sp>
      <p:sp>
        <p:nvSpPr>
          <p:cNvPr id="22" name="Value tile"/>
          <p:cNvSpPr/>
          <p:nvPr/>
        </p:nvSpPr>
        <p:spPr>
          <a:xfrm>
            <a:off x="5076749" y="4709160"/>
            <a:ext cx="2035454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5774436" y="4846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Icon" descr="Innov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857" y="5012741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168189" y="5559552"/>
            <a:ext cx="18525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Innovation</a:t>
            </a:r>
            <a:endParaRPr lang="en-US" sz="1600" dirty="0"/>
          </a:p>
        </p:txBody>
      </p:sp>
      <p:sp>
        <p:nvSpPr>
          <p:cNvPr id="26" name="Value tile"/>
          <p:cNvSpPr/>
          <p:nvPr/>
        </p:nvSpPr>
        <p:spPr>
          <a:xfrm>
            <a:off x="7340803" y="4709160"/>
            <a:ext cx="2035454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7" name="Icon circle"/>
          <p:cNvSpPr/>
          <p:nvPr/>
        </p:nvSpPr>
        <p:spPr>
          <a:xfrm>
            <a:off x="8038490" y="4846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" descr="Safe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4911" y="5012741"/>
            <a:ext cx="307238" cy="30723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32243" y="5559552"/>
            <a:ext cx="18525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Safety</a:t>
            </a:r>
            <a:endParaRPr lang="en-US" sz="1600" dirty="0"/>
          </a:p>
        </p:txBody>
      </p:sp>
      <p:sp>
        <p:nvSpPr>
          <p:cNvPr id="30" name="Value tile"/>
          <p:cNvSpPr/>
          <p:nvPr/>
        </p:nvSpPr>
        <p:spPr>
          <a:xfrm>
            <a:off x="9604858" y="4709160"/>
            <a:ext cx="2035454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31" name="Icon circle"/>
          <p:cNvSpPr/>
          <p:nvPr/>
        </p:nvSpPr>
        <p:spPr>
          <a:xfrm>
            <a:off x="10302545" y="4846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2" name="Icon" descr="Sustainabilit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966" y="5012741"/>
            <a:ext cx="307238" cy="30723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696298" y="5559552"/>
            <a:ext cx="18525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Sustainability</a:t>
            </a:r>
            <a:endParaRPr lang="en-US" sz="16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Harmony Gardens at a Glance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Rivers State, Nigeria</a:t>
            </a:r>
            <a:endParaRPr lang="en-US" sz="1800" dirty="0"/>
          </a:p>
        </p:txBody>
      </p:sp>
      <p:sp>
        <p:nvSpPr>
          <p:cNvPr id="4" name="Fact tile"/>
          <p:cNvSpPr/>
          <p:nvPr/>
        </p:nvSpPr>
        <p:spPr>
          <a:xfrm>
            <a:off x="548640" y="178308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3-bedroom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bungalows</a:t>
            </a:r>
            <a:endParaRPr lang="en-US" sz="2400" dirty="0"/>
          </a:p>
        </p:txBody>
      </p:sp>
      <p:sp>
        <p:nvSpPr>
          <p:cNvPr id="6" name="Fact tile"/>
          <p:cNvSpPr/>
          <p:nvPr/>
        </p:nvSpPr>
        <p:spPr>
          <a:xfrm>
            <a:off x="2743200" y="178308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26080" y="19202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4-bedroom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duplexes</a:t>
            </a:r>
            <a:endParaRPr lang="en-US" sz="2400" dirty="0"/>
          </a:p>
        </p:txBody>
      </p:sp>
      <p:sp>
        <p:nvSpPr>
          <p:cNvPr id="8" name="Fact tile"/>
          <p:cNvSpPr/>
          <p:nvPr/>
        </p:nvSpPr>
        <p:spPr>
          <a:xfrm>
            <a:off x="4937760" y="178308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20640" y="19202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units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 total across the development</a:t>
            </a:r>
            <a:endParaRPr lang="en-US" sz="2400" dirty="0"/>
          </a:p>
        </p:txBody>
      </p:sp>
      <p:sp>
        <p:nvSpPr>
          <p:cNvPr id="10" name="Fact tile"/>
          <p:cNvSpPr/>
          <p:nvPr/>
        </p:nvSpPr>
        <p:spPr>
          <a:xfrm>
            <a:off x="548640" y="329184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Ongoing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construction status</a:t>
            </a:r>
            <a:endParaRPr lang="en-US" sz="2400" dirty="0"/>
          </a:p>
        </p:txBody>
      </p:sp>
      <p:sp>
        <p:nvSpPr>
          <p:cNvPr id="12" name="Fact tile"/>
          <p:cNvSpPr/>
          <p:nvPr/>
        </p:nvSpPr>
        <p:spPr>
          <a:xfrm>
            <a:off x="2743200" y="329184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2608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2027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expected delivery — pending confirmation</a:t>
            </a:r>
            <a:endParaRPr lang="en-US" sz="2400" dirty="0"/>
          </a:p>
        </p:txBody>
      </p:sp>
      <p:sp>
        <p:nvSpPr>
          <p:cNvPr id="14" name="Fact tile"/>
          <p:cNvSpPr/>
          <p:nvPr/>
        </p:nvSpPr>
        <p:spPr>
          <a:xfrm>
            <a:off x="4937760" y="3291840"/>
            <a:ext cx="2011680" cy="1325880"/>
          </a:xfrm>
          <a:prstGeom prst="roundRect">
            <a:avLst>
              <a:gd name="adj" fmla="val 8276"/>
            </a:avLst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12064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be confirmed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current availability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920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Please note: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16 units is the total size of the development, not the number currently available. Ask the company for current availability.</a:t>
            </a:r>
            <a:endParaRPr lang="en-US" sz="1500" dirty="0"/>
          </a:p>
        </p:txBody>
      </p:sp>
      <p:sp>
        <p:nvSpPr>
          <p:cNvPr id="17" name="Image placeholder"/>
          <p:cNvSpPr/>
          <p:nvPr/>
        </p:nvSpPr>
        <p:spPr>
          <a:xfrm>
            <a:off x="7315200" y="1783080"/>
            <a:ext cx="4325112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8" name="Icon circle"/>
          <p:cNvSpPr/>
          <p:nvPr/>
        </p:nvSpPr>
        <p:spPr>
          <a:xfrm>
            <a:off x="9066276" y="21945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0246" y="2408530"/>
            <a:ext cx="395021" cy="395021"/>
          </a:xfrm>
          <a:prstGeom prst="rect">
            <a:avLst/>
          </a:prstGeom>
        </p:spPr>
      </p:pic>
      <p:sp>
        <p:nvSpPr>
          <p:cNvPr id="20" name="Placeholder text"/>
          <p:cNvSpPr txBox="1"/>
          <p:nvPr/>
        </p:nvSpPr>
        <p:spPr>
          <a:xfrm>
            <a:off x="7635240" y="3200400"/>
            <a:ext cx="368503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Image placeholder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Approved Harmony Gardens image to be supplied. Label it as computer-generated, show home, current construction (with date), or completed property.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Options and Pricing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As shown on the supplied promotional flyer — two separate offerings, not one package</a:t>
            </a:r>
            <a:endParaRPr lang="en-US" sz="1800" dirty="0"/>
          </a:p>
        </p:txBody>
      </p:sp>
      <p:sp>
        <p:nvSpPr>
          <p:cNvPr id="4" name="Offering card"/>
          <p:cNvSpPr/>
          <p:nvPr/>
        </p:nvSpPr>
        <p:spPr>
          <a:xfrm>
            <a:off x="548640" y="1783080"/>
            <a:ext cx="53949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1662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1168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Harmony Gardens land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Price shown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₦25,000,000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88036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Initial deposit shown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₦17,000,000</a:t>
            </a:r>
            <a:endParaRPr lang="en-US" sz="1400" dirty="0"/>
          </a:p>
        </p:txBody>
      </p:sp>
      <p:sp>
        <p:nvSpPr>
          <p:cNvPr id="10" name="Offering card"/>
          <p:cNvSpPr/>
          <p:nvPr/>
        </p:nvSpPr>
        <p:spPr>
          <a:xfrm>
            <a:off x="6245352" y="1783080"/>
            <a:ext cx="53949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19672" y="20116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206" y="21662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51192" y="201168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Fully finished 3-bedroom bungalow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288036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Price shown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₦75,000,000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288036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Initial deposit shown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₦30,000,000</a:t>
            </a:r>
            <a:endParaRPr lang="en-US" sz="1400" dirty="0"/>
          </a:p>
        </p:txBody>
      </p:sp>
      <p:sp>
        <p:nvSpPr>
          <p:cNvPr id="16" name="Price notice"/>
          <p:cNvSpPr/>
          <p:nvPr/>
        </p:nvSpPr>
        <p:spPr>
          <a:xfrm>
            <a:off x="548640" y="438912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/>
        </p:spPr>
      </p:sp>
      <p:pic>
        <p:nvPicPr>
          <p:cNvPr id="17" name="Image 2" descr="Not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53712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25880" y="43891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Prices and deposits are shown as advertised in the supplied flyer and must be confirmed with the company.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Full payment plans and applicable charges:</a:t>
            </a:r>
            <a:endParaRPr lang="en-US" sz="1600" dirty="0"/>
          </a:p>
        </p:txBody>
      </p:sp>
      <p:sp>
        <p:nvSpPr>
          <p:cNvPr id="20" name="Status chip"/>
          <p:cNvSpPr txBox="1"/>
          <p:nvPr/>
        </p:nvSpPr>
        <p:spPr>
          <a:xfrm>
            <a:off x="5257800" y="5349240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for Independent Review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Document types identified by the company</a:t>
            </a:r>
            <a:endParaRPr lang="en-US" sz="1800" dirty="0"/>
          </a:p>
        </p:txBody>
      </p:sp>
      <p:sp>
        <p:nvSpPr>
          <p:cNvPr id="4" name="Document card"/>
          <p:cNvSpPr/>
          <p:nvPr/>
        </p:nvSpPr>
        <p:spPr>
          <a:xfrm>
            <a:off x="548640" y="17830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1424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603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Certificate of Deposit from the Surveyor-General’s Office</a:t>
            </a:r>
            <a:endParaRPr lang="en-US" sz="1400" dirty="0"/>
          </a:p>
        </p:txBody>
      </p:sp>
      <p:sp>
        <p:nvSpPr>
          <p:cNvPr id="8" name="Document card"/>
          <p:cNvSpPr/>
          <p:nvPr/>
        </p:nvSpPr>
        <p:spPr>
          <a:xfrm>
            <a:off x="3378708" y="17830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3607308" y="20116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067" y="21424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07308" y="25603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Deed of Conveyance</a:t>
            </a:r>
            <a:endParaRPr lang="en-US" sz="1400" dirty="0"/>
          </a:p>
        </p:txBody>
      </p:sp>
      <p:sp>
        <p:nvSpPr>
          <p:cNvPr id="12" name="Document card"/>
          <p:cNvSpPr/>
          <p:nvPr/>
        </p:nvSpPr>
        <p:spPr>
          <a:xfrm>
            <a:off x="6208776" y="17830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6437376" y="20116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135" y="2142439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37376" y="25603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Registered Survey Plan</a:t>
            </a:r>
            <a:endParaRPr lang="en-US" sz="1400" dirty="0"/>
          </a:p>
        </p:txBody>
      </p:sp>
      <p:sp>
        <p:nvSpPr>
          <p:cNvPr id="16" name="Document card"/>
          <p:cNvSpPr/>
          <p:nvPr/>
        </p:nvSpPr>
        <p:spPr>
          <a:xfrm>
            <a:off x="9038844" y="17830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9267444" y="20116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142439"/>
            <a:ext cx="241402" cy="2414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67444" y="25603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Survey Layout</a:t>
            </a:r>
            <a:endParaRPr lang="en-US" sz="1400" dirty="0"/>
          </a:p>
        </p:txBody>
      </p:sp>
      <p:sp>
        <p:nvSpPr>
          <p:cNvPr id="20" name="Document card"/>
          <p:cNvSpPr/>
          <p:nvPr/>
        </p:nvSpPr>
        <p:spPr>
          <a:xfrm>
            <a:off x="548640" y="33832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77240" y="3611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99" y="3742639"/>
            <a:ext cx="241402" cy="24140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41605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Search Reports</a:t>
            </a:r>
            <a:endParaRPr lang="en-US" sz="1400" dirty="0"/>
          </a:p>
        </p:txBody>
      </p:sp>
      <p:sp>
        <p:nvSpPr>
          <p:cNvPr id="24" name="Document card"/>
          <p:cNvSpPr/>
          <p:nvPr/>
        </p:nvSpPr>
        <p:spPr>
          <a:xfrm>
            <a:off x="3378708" y="33832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3607308" y="3611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8067" y="3742639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607308" y="41605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Developmental Approval Letters</a:t>
            </a:r>
            <a:endParaRPr lang="en-US" sz="1400" dirty="0"/>
          </a:p>
        </p:txBody>
      </p:sp>
      <p:sp>
        <p:nvSpPr>
          <p:cNvPr id="28" name="Document card"/>
          <p:cNvSpPr/>
          <p:nvPr/>
        </p:nvSpPr>
        <p:spPr>
          <a:xfrm>
            <a:off x="6208776" y="3383280"/>
            <a:ext cx="26014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9" name="Icon circle"/>
          <p:cNvSpPr/>
          <p:nvPr/>
        </p:nvSpPr>
        <p:spPr>
          <a:xfrm>
            <a:off x="6437376" y="3611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8135" y="3742639"/>
            <a:ext cx="241402" cy="24140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437376" y="4160520"/>
            <a:ext cx="2189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Environmental Assessment Clearance</a:t>
            </a:r>
            <a:endParaRPr lang="en-US" sz="1400" dirty="0"/>
          </a:p>
        </p:txBody>
      </p:sp>
      <p:sp>
        <p:nvSpPr>
          <p:cNvPr id="32" name="Documents note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pic>
        <p:nvPicPr>
          <p:cNvPr id="33" name="Image 7" descr="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230368"/>
            <a:ext cx="365760" cy="36576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1325880" y="5120640"/>
            <a:ext cx="10104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Prospective buyers should contact the company to confirm which documents are available for Harmony Gardens and how to arrange an independent review.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Listing a document type here does not mean it has been independently verified or reviewed.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and Property Details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Current information, and what is still to be provided</a:t>
            </a:r>
            <a:endParaRPr lang="en-US" sz="1800" dirty="0"/>
          </a:p>
        </p:txBody>
      </p:sp>
      <p:sp>
        <p:nvSpPr>
          <p:cNvPr id="4" name="Status tile"/>
          <p:cNvSpPr/>
          <p:nvPr/>
        </p:nvSpPr>
        <p:spPr>
          <a:xfrm>
            <a:off x="548640" y="1783080"/>
            <a:ext cx="2880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Construction status</a:t>
            </a:r>
            <a:endParaRPr lang="en-US" sz="14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Ongoing</a:t>
            </a:r>
            <a:endParaRPr lang="en-US" sz="1400" dirty="0"/>
          </a:p>
        </p:txBody>
      </p:sp>
      <p:sp>
        <p:nvSpPr>
          <p:cNvPr id="6" name="Status tile"/>
          <p:cNvSpPr/>
          <p:nvPr/>
        </p:nvSpPr>
        <p:spPr>
          <a:xfrm>
            <a:off x="3657600" y="1783080"/>
            <a:ext cx="28803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86200" y="187452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Expected delivery</a:t>
            </a:r>
            <a:endParaRPr lang="en-US" sz="14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2027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pending confirmation</a:t>
            </a:r>
            <a:endParaRPr lang="en-US" sz="1400" dirty="0"/>
          </a:p>
        </p:txBody>
      </p:sp>
      <p:sp>
        <p:nvSpPr>
          <p:cNvPr id="8" name="Detail row"/>
          <p:cNvSpPr/>
          <p:nvPr/>
        </p:nvSpPr>
        <p:spPr>
          <a:xfrm>
            <a:off x="548640" y="3474720"/>
            <a:ext cx="598932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747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Detailed specifications and floor plans</a:t>
            </a:r>
            <a:endParaRPr lang="en-US" sz="1500" dirty="0"/>
          </a:p>
        </p:txBody>
      </p:sp>
      <p:sp>
        <p:nvSpPr>
          <p:cNvPr id="10" name="Status chip"/>
          <p:cNvSpPr txBox="1"/>
          <p:nvPr/>
        </p:nvSpPr>
        <p:spPr>
          <a:xfrm>
            <a:off x="4617720" y="3657600"/>
            <a:ext cx="169164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provided</a:t>
            </a:r>
            <a:endParaRPr lang="en-US" sz="1300" dirty="0"/>
          </a:p>
        </p:txBody>
      </p:sp>
      <p:sp>
        <p:nvSpPr>
          <p:cNvPr id="11" name="Detail row"/>
          <p:cNvSpPr/>
          <p:nvPr/>
        </p:nvSpPr>
        <p:spPr>
          <a:xfrm>
            <a:off x="548640" y="4343400"/>
            <a:ext cx="598932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Current dated construction photos or progress evidence</a:t>
            </a:r>
            <a:endParaRPr lang="en-US" sz="1500" dirty="0"/>
          </a:p>
        </p:txBody>
      </p:sp>
      <p:sp>
        <p:nvSpPr>
          <p:cNvPr id="13" name="Status chip"/>
          <p:cNvSpPr txBox="1"/>
          <p:nvPr/>
        </p:nvSpPr>
        <p:spPr>
          <a:xfrm>
            <a:off x="4617720" y="4526280"/>
            <a:ext cx="169164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provided</a:t>
            </a:r>
            <a:endParaRPr lang="en-US" sz="1300" dirty="0"/>
          </a:p>
        </p:txBody>
      </p:sp>
      <p:sp>
        <p:nvSpPr>
          <p:cNvPr id="14" name="Detail row"/>
          <p:cNvSpPr/>
          <p:nvPr/>
        </p:nvSpPr>
        <p:spPr>
          <a:xfrm>
            <a:off x="548640" y="5212080"/>
            <a:ext cx="598932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52120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Delivery conditions or factors affecting timing</a:t>
            </a:r>
            <a:endParaRPr lang="en-US" sz="1500" dirty="0"/>
          </a:p>
        </p:txBody>
      </p:sp>
      <p:sp>
        <p:nvSpPr>
          <p:cNvPr id="16" name="Status chip"/>
          <p:cNvSpPr txBox="1"/>
          <p:nvPr/>
        </p:nvSpPr>
        <p:spPr>
          <a:xfrm>
            <a:off x="4617720" y="5394960"/>
            <a:ext cx="169164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17" name="Image placeholder"/>
          <p:cNvSpPr/>
          <p:nvPr/>
        </p:nvSpPr>
        <p:spPr>
          <a:xfrm>
            <a:off x="6903720" y="1783080"/>
            <a:ext cx="4736592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8" name="Icon circle"/>
          <p:cNvSpPr/>
          <p:nvPr/>
        </p:nvSpPr>
        <p:spPr>
          <a:xfrm>
            <a:off x="8860536" y="21945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4506" y="2408530"/>
            <a:ext cx="395021" cy="395021"/>
          </a:xfrm>
          <a:prstGeom prst="rect">
            <a:avLst/>
          </a:prstGeom>
        </p:spPr>
      </p:pic>
      <p:sp>
        <p:nvSpPr>
          <p:cNvPr id="20" name="Placeholder text"/>
          <p:cNvSpPr txBox="1"/>
          <p:nvPr/>
        </p:nvSpPr>
        <p:spPr>
          <a:xfrm>
            <a:off x="7223760" y="3200400"/>
            <a:ext cx="4096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Construction image placeholder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Use only supplied, dated images. Label each one: current construction (with date), show home, completed property, or computer-generated.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and Payment Information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Understand the full cost before you pay a reservation fee</a:t>
            </a:r>
            <a:endParaRPr lang="en-US" sz="1800" dirty="0"/>
          </a:p>
        </p:txBody>
      </p:sp>
      <p:sp>
        <p:nvSpPr>
          <p:cNvPr id="4" name="Cost row"/>
          <p:cNvSpPr/>
          <p:nvPr/>
        </p:nvSpPr>
        <p:spPr>
          <a:xfrm>
            <a:off x="548640" y="1783080"/>
            <a:ext cx="640080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938528"/>
            <a:ext cx="585216" cy="58521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396" y="2090684"/>
            <a:ext cx="280904" cy="280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 payment schedules</a:t>
            </a:r>
            <a:endParaRPr lang="en-US" sz="1700" dirty="0"/>
          </a:p>
        </p:txBody>
      </p:sp>
      <p:sp>
        <p:nvSpPr>
          <p:cNvPr id="8" name="Status chip"/>
          <p:cNvSpPr txBox="1"/>
          <p:nvPr/>
        </p:nvSpPr>
        <p:spPr>
          <a:xfrm>
            <a:off x="4983480" y="2048256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9" name="Cost row"/>
          <p:cNvSpPr/>
          <p:nvPr/>
        </p:nvSpPr>
        <p:spPr>
          <a:xfrm>
            <a:off x="548640" y="2862072"/>
            <a:ext cx="640080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77240" y="3017520"/>
            <a:ext cx="585216" cy="58521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396" y="3169676"/>
            <a:ext cx="280904" cy="280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2862072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One-time charges</a:t>
            </a:r>
            <a:endParaRPr lang="en-US" sz="1700" dirty="0"/>
          </a:p>
        </p:txBody>
      </p:sp>
      <p:sp>
        <p:nvSpPr>
          <p:cNvPr id="13" name="Status chip"/>
          <p:cNvSpPr txBox="1"/>
          <p:nvPr/>
        </p:nvSpPr>
        <p:spPr>
          <a:xfrm>
            <a:off x="4983480" y="3127248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14" name="Cost row"/>
          <p:cNvSpPr/>
          <p:nvPr/>
        </p:nvSpPr>
        <p:spPr>
          <a:xfrm>
            <a:off x="548640" y="3941064"/>
            <a:ext cx="640080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77240" y="4096512"/>
            <a:ext cx="585216" cy="58521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4248668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941064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Ongoing estate or maintenance costs</a:t>
            </a:r>
            <a:endParaRPr lang="en-US" sz="1700" dirty="0"/>
          </a:p>
        </p:txBody>
      </p:sp>
      <p:sp>
        <p:nvSpPr>
          <p:cNvPr id="18" name="Status chip"/>
          <p:cNvSpPr txBox="1"/>
          <p:nvPr/>
        </p:nvSpPr>
        <p:spPr>
          <a:xfrm>
            <a:off x="4983480" y="4206240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19" name="Cost row"/>
          <p:cNvSpPr/>
          <p:nvPr/>
        </p:nvSpPr>
        <p:spPr>
          <a:xfrm>
            <a:off x="548640" y="5020056"/>
            <a:ext cx="640080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777240" y="5175504"/>
            <a:ext cx="585216" cy="58521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396" y="5327660"/>
            <a:ext cx="280904" cy="2809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5020056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the advertised deposits cover</a:t>
            </a:r>
            <a:endParaRPr lang="en-US" sz="1700" dirty="0"/>
          </a:p>
        </p:txBody>
      </p:sp>
      <p:sp>
        <p:nvSpPr>
          <p:cNvPr id="23" name="Status chip"/>
          <p:cNvSpPr txBox="1"/>
          <p:nvPr/>
        </p:nvSpPr>
        <p:spPr>
          <a:xfrm>
            <a:off x="4983480" y="5285232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4" name="Payment safety card"/>
          <p:cNvSpPr/>
          <p:nvPr/>
        </p:nvSpPr>
        <p:spPr>
          <a:xfrm>
            <a:off x="7315200" y="1783080"/>
            <a:ext cx="4325112" cy="4133088"/>
          </a:xfrm>
          <a:prstGeom prst="roundRect">
            <a:avLst>
              <a:gd name="adj" fmla="val 2655"/>
            </a:avLst>
          </a:prstGeom>
          <a:solidFill>
            <a:schemeClr val="tx2"/>
          </a:solidFill>
          <a:ln/>
        </p:spPr>
      </p:sp>
      <p:sp>
        <p:nvSpPr>
          <p:cNvPr id="25" name="Icon circle"/>
          <p:cNvSpPr/>
          <p:nvPr/>
        </p:nvSpPr>
        <p:spPr>
          <a:xfrm>
            <a:off x="7635240" y="2103120"/>
            <a:ext cx="777240" cy="7772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con" descr="Payment safet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7322" y="2305202"/>
            <a:ext cx="373075" cy="37307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635240" y="30632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safety</a:t>
            </a:r>
            <a:endParaRPr lang="en-US" sz="2200" dirty="0"/>
          </a:p>
        </p:txBody>
      </p:sp>
      <p:sp>
        <p:nvSpPr>
          <p:cNvPr id="28" name="Text 21"/>
          <p:cNvSpPr txBox="1"/>
          <p:nvPr/>
        </p:nvSpPr>
        <p:spPr>
          <a:xfrm>
            <a:off x="7635240" y="370332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This presentation does not include bank account details.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Request secure, verified payment instructions directly from the company before making any payment.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with Confidence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Practical guidance for every buyer, in Nigeria or in the diaspora</a:t>
            </a:r>
            <a:endParaRPr lang="en-US" sz="1800" dirty="0"/>
          </a:p>
        </p:txBody>
      </p:sp>
      <p:sp>
        <p:nvSpPr>
          <p:cNvPr id="4" name="Icon circle"/>
          <p:cNvSpPr/>
          <p:nvPr/>
        </p:nvSpPr>
        <p:spPr>
          <a:xfrm>
            <a:off x="548640" y="1837944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985345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830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Ask which title and approval documents are available for independent review.</a:t>
            </a:r>
            <a:endParaRPr lang="en-US" sz="1700" dirty="0"/>
          </a:p>
        </p:txBody>
      </p:sp>
      <p:sp>
        <p:nvSpPr>
          <p:cNvPr id="7" name="Icon circle"/>
          <p:cNvSpPr/>
          <p:nvPr/>
        </p:nvSpPr>
        <p:spPr>
          <a:xfrm>
            <a:off x="548640" y="2688336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835737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63347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Buyers may use their own solicitor, surveyor, or other adviser.</a:t>
            </a:r>
            <a:endParaRPr lang="en-US" sz="1700" dirty="0"/>
          </a:p>
        </p:txBody>
      </p:sp>
      <p:sp>
        <p:nvSpPr>
          <p:cNvPr id="10" name="Icon circle"/>
          <p:cNvSpPr/>
          <p:nvPr/>
        </p:nvSpPr>
        <p:spPr>
          <a:xfrm>
            <a:off x="548640" y="353872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686129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348386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Request the full payment schedule and all applicable charges before paying a reservation fee.</a:t>
            </a:r>
            <a:endParaRPr lang="en-US" sz="1700" dirty="0"/>
          </a:p>
        </p:txBody>
      </p:sp>
      <p:sp>
        <p:nvSpPr>
          <p:cNvPr id="13" name="Icon circle"/>
          <p:cNvSpPr/>
          <p:nvPr/>
        </p:nvSpPr>
        <p:spPr>
          <a:xfrm>
            <a:off x="548640" y="438912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4536521"/>
            <a:ext cx="272125" cy="27212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4334256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Ask for dated construction updates and confirm the expected delivery date.</a:t>
            </a:r>
            <a:endParaRPr lang="en-US" sz="1700" dirty="0"/>
          </a:p>
        </p:txBody>
      </p:sp>
      <p:sp>
        <p:nvSpPr>
          <p:cNvPr id="16" name="Icon circle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5386913"/>
            <a:ext cx="272125" cy="27212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518464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Any rental, occupancy, or appreciation estimate should include its assumptions and supporting basis; forecasts are not guaranteed outcomes.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and Enquiries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Team members supplied by the company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548640" y="1783080"/>
            <a:ext cx="324612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1543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060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Mrs. Joy Omereji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Human Resource Manager</a:t>
            </a:r>
            <a:endParaRPr lang="en-US" sz="1600" dirty="0"/>
          </a:p>
        </p:txBody>
      </p:sp>
      <p:sp>
        <p:nvSpPr>
          <p:cNvPr id="8" name="Team card"/>
          <p:cNvSpPr/>
          <p:nvPr/>
        </p:nvSpPr>
        <p:spPr>
          <a:xfrm>
            <a:off x="4023360" y="1783080"/>
            <a:ext cx="324612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251960" y="20116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606" y="21543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51960" y="26060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Ms. Benedicta Ereba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Administrative Assistant</a:t>
            </a:r>
            <a:endParaRPr lang="en-US" sz="1600" dirty="0"/>
          </a:p>
        </p:txBody>
      </p:sp>
      <p:sp>
        <p:nvSpPr>
          <p:cNvPr id="12" name="Team card"/>
          <p:cNvSpPr/>
          <p:nvPr/>
        </p:nvSpPr>
        <p:spPr>
          <a:xfrm>
            <a:off x="548640" y="3474720"/>
            <a:ext cx="324612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4596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7240" y="42976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Ms. Confidence Onwuzurike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Customer Care Representative</a:t>
            </a:r>
            <a:endParaRPr lang="en-US" sz="1600" dirty="0"/>
          </a:p>
        </p:txBody>
      </p:sp>
      <p:sp>
        <p:nvSpPr>
          <p:cNvPr id="16" name="Team card"/>
          <p:cNvSpPr/>
          <p:nvPr/>
        </p:nvSpPr>
        <p:spPr>
          <a:xfrm>
            <a:off x="4023360" y="3474720"/>
            <a:ext cx="324612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E2B26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4251960" y="3703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606" y="384596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51960" y="42976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Daniel Onyekachi Onwuegbuchu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Administrative Manager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257800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Roles as supplied. Responsibility for event and after-sales enquiries is to be confirmed by the company.</a:t>
            </a:r>
            <a:endParaRPr lang="en-US" sz="1400" dirty="0"/>
          </a:p>
        </p:txBody>
      </p:sp>
      <p:sp>
        <p:nvSpPr>
          <p:cNvPr id="21" name="Enquiries card"/>
          <p:cNvSpPr/>
          <p:nvPr/>
        </p:nvSpPr>
        <p:spPr>
          <a:xfrm>
            <a:off x="7635240" y="1783080"/>
            <a:ext cx="4005072" cy="4389120"/>
          </a:xfrm>
          <a:prstGeom prst="roundRect">
            <a:avLst>
              <a:gd name="adj" fmla="val 2740"/>
            </a:avLst>
          </a:prstGeom>
          <a:solidFill>
            <a:schemeClr val="bg2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90956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Enquiries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90956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Event enquiry lead</a:t>
            </a:r>
            <a:endParaRPr lang="en-US" sz="1400" dirty="0"/>
          </a:p>
        </p:txBody>
      </p:sp>
      <p:sp>
        <p:nvSpPr>
          <p:cNvPr id="24" name="Status chip"/>
          <p:cNvSpPr txBox="1"/>
          <p:nvPr/>
        </p:nvSpPr>
        <p:spPr>
          <a:xfrm>
            <a:off x="7909560" y="2834640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909560" y="3310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After-sales contact</a:t>
            </a:r>
            <a:endParaRPr lang="en-US" sz="1400" dirty="0"/>
          </a:p>
        </p:txBody>
      </p:sp>
      <p:sp>
        <p:nvSpPr>
          <p:cNvPr id="26" name="Status chip"/>
          <p:cNvSpPr txBox="1"/>
          <p:nvPr/>
        </p:nvSpPr>
        <p:spPr>
          <a:xfrm>
            <a:off x="7909560" y="3721608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909560" y="41970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Direct contact details for named representatives</a:t>
            </a:r>
            <a:endParaRPr lang="en-US" sz="1400" dirty="0"/>
          </a:p>
        </p:txBody>
      </p:sp>
      <p:sp>
        <p:nvSpPr>
          <p:cNvPr id="28" name="Status chip"/>
          <p:cNvSpPr txBox="1"/>
          <p:nvPr/>
        </p:nvSpPr>
        <p:spPr>
          <a:xfrm>
            <a:off x="7909560" y="4809744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909560" y="5285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Enquiry response target</a:t>
            </a:r>
            <a:endParaRPr lang="en-US" sz="1400" dirty="0"/>
          </a:p>
        </p:txBody>
      </p:sp>
      <p:sp>
        <p:nvSpPr>
          <p:cNvPr id="30" name="Status chip"/>
          <p:cNvSpPr txBox="1"/>
          <p:nvPr/>
        </p:nvSpPr>
        <p:spPr>
          <a:xfrm>
            <a:off x="7909560" y="5696712"/>
            <a:ext cx="1737360" cy="365760"/>
          </a:xfrm>
          <a:prstGeom prst="roundRect">
            <a:avLst>
              <a:gd name="adj" fmla="val 425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be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We welcome your questions</a:t>
            </a:r>
            <a:endParaRPr lang="en-US" sz="1800" dirty="0"/>
          </a:p>
        </p:txBody>
      </p:sp>
      <p:sp>
        <p:nvSpPr>
          <p:cNvPr id="4" name="Step number"/>
          <p:cNvSpPr txBox="1"/>
          <p:nvPr/>
        </p:nvSpPr>
        <p:spPr>
          <a:xfrm>
            <a:off x="548640" y="1847088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83080"/>
            <a:ext cx="6035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Enquire about current Harmony Gardens availability.</a:t>
            </a:r>
            <a:endParaRPr lang="en-US" sz="1800" dirty="0"/>
          </a:p>
        </p:txBody>
      </p:sp>
      <p:sp>
        <p:nvSpPr>
          <p:cNvPr id="6" name="Step number"/>
          <p:cNvSpPr txBox="1"/>
          <p:nvPr/>
        </p:nvSpPr>
        <p:spPr>
          <a:xfrm>
            <a:off x="548640" y="2670048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606040"/>
            <a:ext cx="6035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Request the complete payment schedule and list of charges.</a:t>
            </a:r>
            <a:endParaRPr lang="en-US" sz="1800" dirty="0"/>
          </a:p>
        </p:txBody>
      </p:sp>
      <p:sp>
        <p:nvSpPr>
          <p:cNvPr id="8" name="Step number"/>
          <p:cNvSpPr txBox="1"/>
          <p:nvPr/>
        </p:nvSpPr>
        <p:spPr>
          <a:xfrm>
            <a:off x="548640" y="3493008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429000"/>
            <a:ext cx="6035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Ask which documents are available for independent review.</a:t>
            </a:r>
            <a:endParaRPr lang="en-US" sz="1800" dirty="0"/>
          </a:p>
        </p:txBody>
      </p:sp>
      <p:sp>
        <p:nvSpPr>
          <p:cNvPr id="10" name="Step number"/>
          <p:cNvSpPr txBox="1"/>
          <p:nvPr/>
        </p:nvSpPr>
        <p:spPr>
          <a:xfrm>
            <a:off x="548640" y="4315968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251960"/>
            <a:ext cx="6035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Request specifications, floor plans, and dated construction updates.</a:t>
            </a:r>
            <a:endParaRPr lang="en-US" sz="1800" dirty="0"/>
          </a:p>
        </p:txBody>
      </p:sp>
      <p:sp>
        <p:nvSpPr>
          <p:cNvPr id="12" name="Step number"/>
          <p:cNvSpPr txBox="1"/>
          <p:nvPr/>
        </p:nvSpPr>
        <p:spPr>
          <a:xfrm>
            <a:off x="548640" y="5138928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5074920"/>
            <a:ext cx="6035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Arrange a site visit or follow-up conversation.</a:t>
            </a:r>
            <a:endParaRPr lang="en-US" sz="1800" dirty="0"/>
          </a:p>
        </p:txBody>
      </p:sp>
      <p:sp>
        <p:nvSpPr>
          <p:cNvPr id="14" name="Contact card"/>
          <p:cNvSpPr/>
          <p:nvPr/>
        </p:nvSpPr>
        <p:spPr>
          <a:xfrm>
            <a:off x="7863840" y="1783080"/>
            <a:ext cx="3776472" cy="4114800"/>
          </a:xfrm>
          <a:prstGeom prst="roundRect">
            <a:avLst>
              <a:gd name="adj" fmla="val 2906"/>
            </a:avLst>
          </a:prstGeom>
          <a:solidFill>
            <a:schemeClr val="bg1"/>
          </a:solidFill>
          <a:ln/>
        </p:spPr>
      </p:sp>
      <p:pic>
        <p:nvPicPr>
          <p:cNvPr id="15" name="Company logo" descr="Princy &amp; Eddy Properti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2011680"/>
            <a:ext cx="3319272" cy="213055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92440" y="4343400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Contact details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To be confirmed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Items to Confirm Before the Event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384048"/>
          </a:xfrm>
          <a:prstGeom prst="roundRect">
            <a:avLst>
              <a:gd name="adj" fmla="val 4047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INTERNAL CHECKLIST — REMOVE THIS SLIDE BEFORE PRESENTING</a:t>
            </a:r>
            <a:endParaRPr lang="en-US" sz="13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Missing assets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92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Approved Harmony Gardens images, each labelled: computer-generated, show home, current construction (dated), or completed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Dated construction progress photos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Detailed specifications and floor plans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Approval to use the Princy &amp; Eddy Properties logo (taken from the company’s receipt template)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Any separate Easyland logo or wordmark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6245352" y="1783080"/>
            <a:ext cx="539496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19672" y="1920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Company confirmations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423160"/>
            <a:ext cx="4892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Harmony Gardens availability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Flyer prices and deposits are current; what the deposits cover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Full payment schedules, one-time charges, and ongoing estate or maintenance costs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Q1 2027 delivery date and factors affecting timing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documents are available and how to arrange independent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Event enquiry lead, after-sales contact, direct contact details, and response target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Verified, approved contact details for the closing slide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syland Green">
  <a:themeElements>
    <a:clrScheme name="Easyland Green">
      <a:dk1>
        <a:srgbClr val="1E2B26"/>
      </a:dk1>
      <a:lt1>
        <a:srgbClr val="FFFFFF"/>
      </a:lt1>
      <a:dk2>
        <a:srgbClr val="0B5C46"/>
      </a:dk2>
      <a:lt2>
        <a:srgbClr val="EEF5F1"/>
      </a:lt2>
      <a:accent1>
        <a:srgbClr val="0B5C46"/>
      </a:accent1>
      <a:accent2>
        <a:srgbClr val="9BD86A"/>
      </a:accent2>
      <a:accent3>
        <a:srgbClr val="DCEBE2"/>
      </a:accent3>
      <a:accent4>
        <a:srgbClr val="56665F"/>
      </a:accent4>
      <a:accent5>
        <a:srgbClr val="FBEFD3"/>
      </a:accent5>
      <a:accent6>
        <a:srgbClr val="7A5300"/>
      </a:accent6>
      <a:hlink>
        <a:srgbClr val="0B5C46"/>
      </a:hlink>
      <a:folHlink>
        <a:srgbClr val="56665F"/>
      </a:folHlink>
    </a:clrScheme>
    <a:fontScheme name="Easyland Gre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Princy and Eddy Resources Nigeria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Easyland — Harmony Gardens Company Presentation</dc:title>
  <dc:subject>PptxGenJS Presentation</dc:subject>
  <dc:creator>Princy and Eddy Resources Nigeria Limited</dc:creator>
  <cp:lastModifiedBy>Princy and Eddy Resources Nigeria Limited</cp:lastModifiedBy>
  <cp:revision>1</cp:revision>
  <dcterms:created xsi:type="dcterms:W3CDTF">2026-10-20T06:50:48Z</dcterms:created>
  <dcterms:modified xsi:type="dcterms:W3CDTF">2026-10-20T06:50:48Z</dcterms:modified>
</cp:coreProperties>
</file>