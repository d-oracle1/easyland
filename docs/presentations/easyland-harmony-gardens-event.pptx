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30b7268-82d6-c7dc-d157-83ea98c3e28f}">
          <p14:sldIdLst>
            <p14:sldId id="256"/>
          </p14:sldIdLst>
        </p14:section>
        <p14:section name="The Company" id="{84c8b743-700e-5f63-779f-eaa4211e3d81}">
          <p14:sldIdLst>
            <p14:sldId id="257"/>
            <p14:sldId id="258"/>
          </p14:sldIdLst>
        </p14:section>
        <p14:section name="Harmony Gardens" id="{d7c23041-81fd-5f70-7329-917283ae250f}">
          <p14:sldIdLst>
            <p14:sldId id="259"/>
            <p14:sldId id="260"/>
            <p14:sldId id="261"/>
            <p14:sldId id="262"/>
          </p14:sldIdLst>
        </p14:section>
        <p14:section name="Buying" id="{fb30ec20-29c9-2460-71bb-f96ef2567587}">
          <p14:sldIdLst>
            <p14:sldId id="263"/>
            <p14:sldId id="264"/>
          </p14:sldIdLst>
        </p14:section>
        <p14:section name="Contact" id="{db511995-65ca-9ca8-ead6-eb3d74a22695}">
          <p14:sldIdLst>
            <p14:sldId id="265"/>
            <p14:sldId id="266"/>
          </p14:sldIdLst>
        </p14:section>
        <p14:section name="Appendix (internal)" id="{4ffdff91-976d-3c53-3fd7-b3081bf15a6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visitors. Easyland is presented by Princy and Eddy Resources Nigeria Limited (RC 7378240). All information in this deck was supplied by the company; current details should be confirmed before any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company using its own words only. Do not add awards, credentials or performance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Vision, mission and core values as stated by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suggest that all 16 units are available. Current availability is to be confirmed by the company. Expected delivery Q1 2027 is pending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exactly as printed on the supplied flyer. Do not calculate balances or instalments. The land price and bungalow price are separate offerings.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document types the company has identified. Nothing on this slide states that any document has been verified. Encourage buyers to arrange their own independent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construction images have been supplied yet. Add only dated images and label each one accurately.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cost items are to be confirmed by the company. Never display or read out bank details from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tone calm and factual. Nothing here implies that a document or assurance has already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assign responsibility to any named person until the company confirms it. No phone numbers or email addresses have been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without pressure. Contact details will be added once verified and approved by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Internal working slide. Delete or hide before the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Information supplied by the company; confirm current details before purchase.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es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Information supplied by the company; confirm current details before purchase.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g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Information supplied by the company; confirm current details before purchase.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EASYLAND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074152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Company presentation</a:t>
            </a:r>
            <a:endParaRPr lang="en-US" sz="16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6002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80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Easyland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Property Ownership Made Clear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Residential  ·  Commercial  ·  Investment</a:t>
            </a:r>
            <a:endParaRPr lang="en-US" sz="1600" dirty="0"/>
          </a:p>
        </p:txBody>
      </p:sp>
      <p:sp>
        <p:nvSpPr>
          <p:cNvPr id="7" name="Logo panel"/>
          <p:cNvSpPr/>
          <p:nvPr/>
        </p:nvSpPr>
        <p:spPr>
          <a:xfrm>
            <a:off x="7086600" y="1188720"/>
            <a:ext cx="4645152" cy="3840480"/>
          </a:xfrm>
          <a:prstGeom prst="roundRect">
            <a:avLst>
              <a:gd name="adj" fmla="val 7143"/>
            </a:avLst>
          </a:prstGeom>
          <a:solidFill>
            <a:srgbClr val="E0EAEB"/>
          </a:solidFill>
          <a:ln/>
        </p:spPr>
      </p:sp>
      <p:pic>
        <p:nvPicPr>
          <p:cNvPr id="8" name="Company logo" descr="Princy &amp; Eddy Properti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664208"/>
            <a:ext cx="4224528" cy="2706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3035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Princy and Eddy Resources Nigeria Limited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2"/>
                </a:solidFill>
              </a:rPr>
              <a:t>RC 7378240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5303520"/>
            <a:ext cx="4645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2"/>
                </a:solidFill>
              </a:rPr>
              <a:t>Featuring</a:t>
            </a:r>
            <a:endParaRPr lang="en-US" sz="14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Harmony Gardens, Rivers State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 card"/>
          <p:cNvSpPr/>
          <p:nvPr/>
        </p:nvSpPr>
        <p:spPr>
          <a:xfrm>
            <a:off x="457200" y="457200"/>
            <a:ext cx="4297680" cy="5760720"/>
          </a:xfrm>
          <a:prstGeom prst="roundRect">
            <a:avLst>
              <a:gd name="adj" fmla="val 4681"/>
            </a:avLst>
          </a:prstGeom>
          <a:solidFill>
            <a:srgbClr val="B8D98F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777240" y="777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About the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Company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Princy and Eddy Resources Nigeria Limited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company describes its work as marketing, selling, and building lands and properties.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Its stated focus is integrity, customer service, and technology-enabled access to property ownership.</a:t>
            </a:r>
            <a:endParaRPr lang="en-US" sz="1600" dirty="0"/>
          </a:p>
        </p:txBody>
      </p:sp>
      <p:sp>
        <p:nvSpPr>
          <p:cNvPr id="5" name="Portfolio card"/>
          <p:cNvSpPr/>
          <p:nvPr/>
        </p:nvSpPr>
        <p:spPr>
          <a:xfrm>
            <a:off x="4983480" y="457200"/>
            <a:ext cx="6748272" cy="3246120"/>
          </a:xfrm>
          <a:prstGeom prst="roundRect">
            <a:avLst>
              <a:gd name="adj" fmla="val 6197"/>
            </a:avLst>
          </a:prstGeom>
          <a:solidFill>
            <a:srgbClr val="1F3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0" y="731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Portfolio named by the company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Salvation View Estate</a:t>
            </a:r>
            <a:endParaRPr lang="en-US" sz="1700" dirty="0"/>
          </a:p>
        </p:txBody>
      </p:sp>
      <p:sp>
        <p:nvSpPr>
          <p:cNvPr id="9" name="Divider"/>
          <p:cNvSpPr/>
          <p:nvPr/>
        </p:nvSpPr>
        <p:spPr>
          <a:xfrm>
            <a:off x="7232904" y="1371600"/>
            <a:ext cx="0" cy="201168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88352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88352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Savannah Estate</a:t>
            </a:r>
            <a:endParaRPr lang="en-US" sz="1700" dirty="0"/>
          </a:p>
        </p:txBody>
      </p:sp>
      <p:sp>
        <p:nvSpPr>
          <p:cNvPr id="12" name="Divider"/>
          <p:cNvSpPr/>
          <p:nvPr/>
        </p:nvSpPr>
        <p:spPr>
          <a:xfrm>
            <a:off x="9317736" y="1371600"/>
            <a:ext cx="0" cy="201168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73184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473184" y="2240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Harmony Gardens Estate and Apartments</a:t>
            </a:r>
            <a:endParaRPr lang="en-US" sz="1700" dirty="0"/>
          </a:p>
        </p:txBody>
      </p:sp>
      <p:sp>
        <p:nvSpPr>
          <p:cNvPr id="15" name="Stat tile"/>
          <p:cNvSpPr/>
          <p:nvPr/>
        </p:nvSpPr>
        <p:spPr>
          <a:xfrm>
            <a:off x="4983480" y="3931920"/>
            <a:ext cx="2097024" cy="2286000"/>
          </a:xfrm>
          <a:prstGeom prst="roundRect">
            <a:avLst>
              <a:gd name="adj" fmla="val 959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4160520"/>
            <a:ext cx="163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2024</a:t>
            </a:r>
            <a:endParaRPr lang="en-US" sz="44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Established</a:t>
            </a:r>
            <a:endParaRPr lang="en-US" sz="4400" dirty="0"/>
          </a:p>
        </p:txBody>
      </p:sp>
      <p:sp>
        <p:nvSpPr>
          <p:cNvPr id="17" name="Ambition tile"/>
          <p:cNvSpPr/>
          <p:nvPr/>
        </p:nvSpPr>
        <p:spPr>
          <a:xfrm>
            <a:off x="7309104" y="3931920"/>
            <a:ext cx="2097024" cy="2286000"/>
          </a:xfrm>
          <a:prstGeom prst="roundRect">
            <a:avLst>
              <a:gd name="adj" fmla="val 9593"/>
            </a:avLst>
          </a:prstGeom>
          <a:solidFill>
            <a:srgbClr val="2F7D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37704" y="4160520"/>
            <a:ext cx="163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“Building A City”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2"/>
                </a:solidFill>
              </a:rPr>
              <a:t>Company ambition</a:t>
            </a:r>
            <a:endParaRPr lang="en-US" sz="2400" dirty="0"/>
          </a:p>
        </p:txBody>
      </p:sp>
      <p:sp>
        <p:nvSpPr>
          <p:cNvPr id="19" name="Sectors tile"/>
          <p:cNvSpPr/>
          <p:nvPr/>
        </p:nvSpPr>
        <p:spPr>
          <a:xfrm>
            <a:off x="9634728" y="3931920"/>
            <a:ext cx="2097024" cy="2286000"/>
          </a:xfrm>
          <a:prstGeom prst="roundRect">
            <a:avLst>
              <a:gd name="adj" fmla="val 959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63328" y="4114800"/>
            <a:ext cx="163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Sectors served</a:t>
            </a:r>
            <a:endParaRPr lang="en-US" sz="1500" dirty="0"/>
          </a:p>
        </p:txBody>
      </p:sp>
      <p:sp>
        <p:nvSpPr>
          <p:cNvPr id="21" name="Sector chip"/>
          <p:cNvSpPr txBox="1"/>
          <p:nvPr/>
        </p:nvSpPr>
        <p:spPr>
          <a:xfrm>
            <a:off x="9863328" y="4553712"/>
            <a:ext cx="1639824" cy="384048"/>
          </a:xfrm>
          <a:prstGeom prst="roundRect">
            <a:avLst>
              <a:gd name="adj" fmla="val 4285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Residential</a:t>
            </a:r>
            <a:endParaRPr lang="en-US" sz="1400" dirty="0"/>
          </a:p>
        </p:txBody>
      </p:sp>
      <p:sp>
        <p:nvSpPr>
          <p:cNvPr id="22" name="Sector chip"/>
          <p:cNvSpPr txBox="1"/>
          <p:nvPr/>
        </p:nvSpPr>
        <p:spPr>
          <a:xfrm>
            <a:off x="9863328" y="5056632"/>
            <a:ext cx="1639824" cy="384048"/>
          </a:xfrm>
          <a:prstGeom prst="roundRect">
            <a:avLst>
              <a:gd name="adj" fmla="val 4285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Commercial</a:t>
            </a:r>
            <a:endParaRPr lang="en-US" sz="1400" dirty="0"/>
          </a:p>
        </p:txBody>
      </p:sp>
      <p:sp>
        <p:nvSpPr>
          <p:cNvPr id="23" name="Sector chip"/>
          <p:cNvSpPr txBox="1"/>
          <p:nvPr/>
        </p:nvSpPr>
        <p:spPr>
          <a:xfrm>
            <a:off x="9863328" y="5559552"/>
            <a:ext cx="1639824" cy="384048"/>
          </a:xfrm>
          <a:prstGeom prst="roundRect">
            <a:avLst>
              <a:gd name="adj" fmla="val 4285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Investment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Vision, Mission,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Values</a:t>
            </a:r>
            <a:endParaRPr lang="en-US" sz="3800" dirty="0"/>
          </a:p>
        </p:txBody>
      </p:sp>
      <p:sp>
        <p:nvSpPr>
          <p:cNvPr id="3" name="Vision card"/>
          <p:cNvSpPr/>
          <p:nvPr/>
        </p:nvSpPr>
        <p:spPr>
          <a:xfrm>
            <a:off x="457200" y="1965960"/>
            <a:ext cx="5486400" cy="233172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/>
        </p:spPr>
      </p:sp>
      <p:sp>
        <p:nvSpPr>
          <p:cNvPr id="4" name="Icon circle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32531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346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 be a preferred real estate company in the region, delivering sustainable solutions and value to stakeholders, and providing genuine and affordable lands and properties while promoting safety, efficiency, and environmental stewardship.</a:t>
            </a:r>
            <a:endParaRPr lang="en-US" sz="1500" dirty="0"/>
          </a:p>
        </p:txBody>
      </p:sp>
      <p:sp>
        <p:nvSpPr>
          <p:cNvPr id="8" name="Mission card"/>
          <p:cNvSpPr/>
          <p:nvPr/>
        </p:nvSpPr>
        <p:spPr>
          <a:xfrm>
            <a:off x="6245352" y="1965960"/>
            <a:ext cx="5486400" cy="2331720"/>
          </a:xfrm>
          <a:prstGeom prst="roundRect">
            <a:avLst>
              <a:gd name="adj" fmla="val 8627"/>
            </a:avLst>
          </a:prstGeom>
          <a:solidFill>
            <a:srgbClr val="B8D98F"/>
          </a:solidFill>
          <a:ln/>
        </p:spPr>
      </p:sp>
      <p:sp>
        <p:nvSpPr>
          <p:cNvPr id="9" name="Icon circle"/>
          <p:cNvSpPr/>
          <p:nvPr/>
        </p:nvSpPr>
        <p:spPr>
          <a:xfrm>
            <a:off x="6519672" y="2194560"/>
            <a:ext cx="502920" cy="50292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31" y="232531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9752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Mission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19672" y="28346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 make property ownership seamless, secure, and rewarding through transparent processes, innovative marketing, and a client-first approach.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Core values</a:t>
            </a:r>
            <a:endParaRPr lang="en-US" sz="1600" dirty="0"/>
          </a:p>
        </p:txBody>
      </p:sp>
      <p:sp>
        <p:nvSpPr>
          <p:cNvPr id="14" name="Icon circle"/>
          <p:cNvSpPr/>
          <p:nvPr/>
        </p:nvSpPr>
        <p:spPr>
          <a:xfrm>
            <a:off x="548640" y="51206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5" name="Icon" descr="Integr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26328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5120640"/>
            <a:ext cx="136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Integrity</a:t>
            </a:r>
            <a:endParaRPr lang="en-US" sz="1700" dirty="0"/>
          </a:p>
        </p:txBody>
      </p:sp>
      <p:sp>
        <p:nvSpPr>
          <p:cNvPr id="17" name="Divider"/>
          <p:cNvSpPr/>
          <p:nvPr/>
        </p:nvSpPr>
        <p:spPr>
          <a:xfrm>
            <a:off x="2648102" y="5074920"/>
            <a:ext cx="0" cy="100584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2785262" y="51206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9" name="Icon" descr="Customer foc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909" y="5263286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471062" y="5120640"/>
            <a:ext cx="136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Customer focus</a:t>
            </a:r>
            <a:endParaRPr lang="en-US" sz="1700" dirty="0"/>
          </a:p>
        </p:txBody>
      </p:sp>
      <p:sp>
        <p:nvSpPr>
          <p:cNvPr id="21" name="Divider"/>
          <p:cNvSpPr/>
          <p:nvPr/>
        </p:nvSpPr>
        <p:spPr>
          <a:xfrm>
            <a:off x="4884725" y="5074920"/>
            <a:ext cx="0" cy="100584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22" name="Icon circle"/>
          <p:cNvSpPr/>
          <p:nvPr/>
        </p:nvSpPr>
        <p:spPr>
          <a:xfrm>
            <a:off x="5021885" y="51206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23" name="Icon" descr="Innov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531" y="5263286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707685" y="5120640"/>
            <a:ext cx="136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Innovation</a:t>
            </a:r>
            <a:endParaRPr lang="en-US" sz="1700" dirty="0"/>
          </a:p>
        </p:txBody>
      </p:sp>
      <p:sp>
        <p:nvSpPr>
          <p:cNvPr id="25" name="Divider"/>
          <p:cNvSpPr/>
          <p:nvPr/>
        </p:nvSpPr>
        <p:spPr>
          <a:xfrm>
            <a:off x="7121347" y="5074920"/>
            <a:ext cx="0" cy="100584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26" name="Icon circle"/>
          <p:cNvSpPr/>
          <p:nvPr/>
        </p:nvSpPr>
        <p:spPr>
          <a:xfrm>
            <a:off x="7258507" y="51206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27" name="Icon" descr="Safet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1154" y="526328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944307" y="5120640"/>
            <a:ext cx="136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Safety</a:t>
            </a:r>
            <a:endParaRPr lang="en-US" sz="1700" dirty="0"/>
          </a:p>
        </p:txBody>
      </p:sp>
      <p:sp>
        <p:nvSpPr>
          <p:cNvPr id="29" name="Divider"/>
          <p:cNvSpPr/>
          <p:nvPr/>
        </p:nvSpPr>
        <p:spPr>
          <a:xfrm>
            <a:off x="9357970" y="5074920"/>
            <a:ext cx="0" cy="100584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9495130" y="51206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31" name="Icon" descr="Sustainabilit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5263286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0180930" y="5120640"/>
            <a:ext cx="13679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Sustainability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ard"/>
          <p:cNvSpPr/>
          <p:nvPr/>
        </p:nvSpPr>
        <p:spPr>
          <a:xfrm>
            <a:off x="457200" y="457200"/>
            <a:ext cx="4297680" cy="1828800"/>
          </a:xfrm>
          <a:prstGeom prst="roundRect">
            <a:avLst>
              <a:gd name="adj" fmla="val 11000"/>
            </a:avLst>
          </a:prstGeom>
          <a:solidFill>
            <a:srgbClr val="1F3B2C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731520" y="658368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Harmony Gardens</a:t>
            </a:r>
            <a:endParaRPr lang="en-US" sz="3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at a Glance</a:t>
            </a:r>
            <a:endParaRPr lang="en-US" sz="3200" dirty="0"/>
          </a:p>
        </p:txBody>
      </p:sp>
      <p:pic>
        <p:nvPicPr>
          <p:cNvPr id="4" name="Image 0" descr="Lo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01168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Rivers State, Nigeria</a:t>
            </a:r>
            <a:endParaRPr lang="en-US" sz="1500" dirty="0"/>
          </a:p>
        </p:txBody>
      </p:sp>
      <p:sp>
        <p:nvSpPr>
          <p:cNvPr id="6" name="Fact tile"/>
          <p:cNvSpPr/>
          <p:nvPr/>
        </p:nvSpPr>
        <p:spPr>
          <a:xfrm>
            <a:off x="4983480" y="457200"/>
            <a:ext cx="2097024" cy="18288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212080" y="640080"/>
            <a:ext cx="1685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3‑bedroom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bungalows</a:t>
            </a:r>
            <a:endParaRPr lang="en-US" sz="2400" dirty="0"/>
          </a:p>
        </p:txBody>
      </p:sp>
      <p:sp>
        <p:nvSpPr>
          <p:cNvPr id="8" name="Fact tile"/>
          <p:cNvSpPr/>
          <p:nvPr/>
        </p:nvSpPr>
        <p:spPr>
          <a:xfrm>
            <a:off x="7309104" y="457200"/>
            <a:ext cx="2097024" cy="1828800"/>
          </a:xfrm>
          <a:prstGeom prst="roundRect">
            <a:avLst>
              <a:gd name="adj" fmla="val 11000"/>
            </a:avLst>
          </a:prstGeom>
          <a:solidFill>
            <a:srgbClr val="B8D98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37704" y="640080"/>
            <a:ext cx="1685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4‑bedroom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duplexes</a:t>
            </a:r>
            <a:endParaRPr lang="en-US" sz="2400" dirty="0"/>
          </a:p>
        </p:txBody>
      </p:sp>
      <p:sp>
        <p:nvSpPr>
          <p:cNvPr id="10" name="Fact tile"/>
          <p:cNvSpPr/>
          <p:nvPr/>
        </p:nvSpPr>
        <p:spPr>
          <a:xfrm>
            <a:off x="9634728" y="457200"/>
            <a:ext cx="2097024" cy="1828800"/>
          </a:xfrm>
          <a:prstGeom prst="roundRect">
            <a:avLst>
              <a:gd name="adj" fmla="val 11000"/>
            </a:avLst>
          </a:prstGeom>
          <a:solidFill>
            <a:srgbClr val="2F7D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863328" y="640080"/>
            <a:ext cx="1685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2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 units</a:t>
            </a:r>
            <a:endParaRPr lang="en-US" sz="2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in total across the development — not current availability</a:t>
            </a:r>
            <a:endParaRPr lang="en-US" sz="2800" dirty="0"/>
          </a:p>
        </p:txBody>
      </p:sp>
      <p:sp>
        <p:nvSpPr>
          <p:cNvPr id="12" name="Image placeholder"/>
          <p:cNvSpPr/>
          <p:nvPr/>
        </p:nvSpPr>
        <p:spPr>
          <a:xfrm>
            <a:off x="457200" y="2514600"/>
            <a:ext cx="6035040" cy="3703320"/>
          </a:xfrm>
          <a:prstGeom prst="roundRect">
            <a:avLst>
              <a:gd name="adj" fmla="val 5432"/>
            </a:avLst>
          </a:prstGeom>
          <a:solidFill>
            <a:srgbClr val="FFFFFF"/>
          </a:solidFill>
          <a:ln w="15875">
            <a:solidFill>
              <a:srgbClr val="5E6E63"/>
            </a:solidFill>
            <a:prstDash val="dash"/>
          </a:ln>
        </p:spPr>
      </p:sp>
      <p:sp>
        <p:nvSpPr>
          <p:cNvPr id="13" name="Icon circle"/>
          <p:cNvSpPr/>
          <p:nvPr/>
        </p:nvSpPr>
        <p:spPr>
          <a:xfrm>
            <a:off x="3086100" y="3131820"/>
            <a:ext cx="777240" cy="777240"/>
          </a:xfrm>
          <a:prstGeom prst="ellipse">
            <a:avLst/>
          </a:prstGeom>
          <a:solidFill>
            <a:srgbClr val="E8EEDD"/>
          </a:solidFill>
          <a:ln/>
        </p:spPr>
      </p:sp>
      <p:pic>
        <p:nvPicPr>
          <p:cNvPr id="14" name="Icon" descr="Image placehol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182" y="3333902"/>
            <a:ext cx="373075" cy="373075"/>
          </a:xfrm>
          <a:prstGeom prst="rect">
            <a:avLst/>
          </a:prstGeom>
        </p:spPr>
      </p:pic>
      <p:sp>
        <p:nvSpPr>
          <p:cNvPr id="15" name="Placeholder text"/>
          <p:cNvSpPr txBox="1"/>
          <p:nvPr/>
        </p:nvSpPr>
        <p:spPr>
          <a:xfrm>
            <a:off x="777240" y="40919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Image placeholder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Approved Harmony Gardens image to be supplied. Label it as computer-generated, show home, current construction (with date), or completed property.</a:t>
            </a:r>
            <a:endParaRPr lang="en-US" sz="1700" dirty="0"/>
          </a:p>
        </p:txBody>
      </p:sp>
      <p:sp>
        <p:nvSpPr>
          <p:cNvPr id="16" name="Status tile"/>
          <p:cNvSpPr/>
          <p:nvPr/>
        </p:nvSpPr>
        <p:spPr>
          <a:xfrm>
            <a:off x="6720840" y="2514600"/>
            <a:ext cx="5010912" cy="109728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995160" y="2514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Ongoing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9372600" y="25146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Construction status</a:t>
            </a:r>
            <a:endParaRPr lang="en-US" sz="1400" dirty="0"/>
          </a:p>
        </p:txBody>
      </p:sp>
      <p:sp>
        <p:nvSpPr>
          <p:cNvPr id="19" name="Status tile"/>
          <p:cNvSpPr/>
          <p:nvPr/>
        </p:nvSpPr>
        <p:spPr>
          <a:xfrm>
            <a:off x="6720840" y="3781044"/>
            <a:ext cx="5010912" cy="1097280"/>
          </a:xfrm>
          <a:prstGeom prst="roundRect">
            <a:avLst>
              <a:gd name="adj" fmla="val 18333"/>
            </a:avLst>
          </a:prstGeom>
          <a:solidFill>
            <a:srgbClr val="1F3B2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995160" y="3781044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2027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9372600" y="378104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Expected delivery — pending confirmation</a:t>
            </a:r>
            <a:endParaRPr lang="en-US" sz="1400" dirty="0"/>
          </a:p>
        </p:txBody>
      </p:sp>
      <p:sp>
        <p:nvSpPr>
          <p:cNvPr id="22" name="Status tile"/>
          <p:cNvSpPr/>
          <p:nvPr/>
        </p:nvSpPr>
        <p:spPr>
          <a:xfrm>
            <a:off x="6720840" y="5047488"/>
            <a:ext cx="5010912" cy="1097280"/>
          </a:xfrm>
          <a:prstGeom prst="roundRect">
            <a:avLst>
              <a:gd name="adj" fmla="val 18333"/>
            </a:avLst>
          </a:prstGeom>
          <a:solidFill>
            <a:srgbClr val="F4E6B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995160" y="504748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be confirmed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9372600" y="504748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Current availability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ard"/>
          <p:cNvSpPr/>
          <p:nvPr/>
        </p:nvSpPr>
        <p:spPr>
          <a:xfrm>
            <a:off x="457200" y="457200"/>
            <a:ext cx="4114800" cy="5760720"/>
          </a:xfrm>
          <a:prstGeom prst="roundRect">
            <a:avLst>
              <a:gd name="adj" fmla="val 4889"/>
            </a:avLst>
          </a:prstGeom>
          <a:solidFill>
            <a:srgbClr val="1F3B2C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777240" y="777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Property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Options and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Two separate offerings, as shown on the supplied promotional flyer. They are not one combined package.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5720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Full payment plans and applicable charges</a:t>
            </a:r>
            <a:endParaRPr lang="en-US" sz="1500" dirty="0"/>
          </a:p>
        </p:txBody>
      </p:sp>
      <p:sp>
        <p:nvSpPr>
          <p:cNvPr id="6" name="Status chip"/>
          <p:cNvSpPr txBox="1"/>
          <p:nvPr/>
        </p:nvSpPr>
        <p:spPr>
          <a:xfrm>
            <a:off x="777240" y="525780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Prices as advertised on the flyer</a:t>
            </a:r>
            <a:endParaRPr lang="en-US" sz="1500" dirty="0"/>
          </a:p>
        </p:txBody>
      </p:sp>
      <p:sp>
        <p:nvSpPr>
          <p:cNvPr id="8" name="Offering card"/>
          <p:cNvSpPr/>
          <p:nvPr/>
        </p:nvSpPr>
        <p:spPr>
          <a:xfrm>
            <a:off x="4800600" y="960120"/>
            <a:ext cx="6931152" cy="2103120"/>
          </a:xfrm>
          <a:prstGeom prst="roundRect">
            <a:avLst>
              <a:gd name="adj" fmla="val 9565"/>
            </a:avLst>
          </a:prstGeom>
          <a:solidFill>
            <a:srgbClr val="B8D98F"/>
          </a:solidFill>
          <a:ln/>
        </p:spPr>
      </p:sp>
      <p:sp>
        <p:nvSpPr>
          <p:cNvPr id="9" name="Icon circle"/>
          <p:cNvSpPr/>
          <p:nvPr/>
        </p:nvSpPr>
        <p:spPr>
          <a:xfrm>
            <a:off x="5074920" y="1234440"/>
            <a:ext cx="548640" cy="54864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7566" y="13770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0" y="1234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Harmony Gardens land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shown</a:t>
            </a:r>
            <a:endParaRPr lang="en-US" sz="1400" dirty="0"/>
          </a:p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₦25,000,000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Initial deposit shown</a:t>
            </a:r>
            <a:endParaRPr lang="en-US" sz="1400" dirty="0"/>
          </a:p>
          <a:p>
            <a:pPr indent="0" marL="0">
              <a:buNone/>
            </a:pPr>
            <a:r>
              <a:rPr lang="en-US" sz="34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₦17,000,000</a:t>
            </a:r>
            <a:endParaRPr lang="en-US" sz="1400" dirty="0"/>
          </a:p>
        </p:txBody>
      </p:sp>
      <p:sp>
        <p:nvSpPr>
          <p:cNvPr id="14" name="Offering card"/>
          <p:cNvSpPr/>
          <p:nvPr/>
        </p:nvSpPr>
        <p:spPr>
          <a:xfrm>
            <a:off x="4800600" y="3246120"/>
            <a:ext cx="6931152" cy="2103120"/>
          </a:xfrm>
          <a:prstGeom prst="roundRect">
            <a:avLst>
              <a:gd name="adj" fmla="val 9565"/>
            </a:avLst>
          </a:prstGeom>
          <a:solidFill>
            <a:srgbClr val="2F7D4A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5074920" y="352044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566" y="366308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806440" y="3520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Fully finished 3-bedroom bungalow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4251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Price shown</a:t>
            </a:r>
            <a:endParaRPr lang="en-US" sz="1400" dirty="0"/>
          </a:p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₦75,000,000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366760" y="4251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Initial deposit shown</a:t>
            </a:r>
            <a:endParaRPr lang="en-US" sz="1400" dirty="0"/>
          </a:p>
          <a:p>
            <a:pPr indent="0" marL="0">
              <a:buNone/>
            </a:pPr>
            <a:r>
              <a:rPr lang="en-US" sz="34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₦30,000,000</a:t>
            </a:r>
            <a:endParaRPr lang="en-US" sz="1400" dirty="0"/>
          </a:p>
        </p:txBody>
      </p:sp>
      <p:sp>
        <p:nvSpPr>
          <p:cNvPr id="20" name="Price notice"/>
          <p:cNvSpPr/>
          <p:nvPr/>
        </p:nvSpPr>
        <p:spPr>
          <a:xfrm>
            <a:off x="4800600" y="5577840"/>
            <a:ext cx="6931152" cy="640080"/>
          </a:xfrm>
          <a:prstGeom prst="roundRect">
            <a:avLst>
              <a:gd name="adj" fmla="val 25714"/>
            </a:avLst>
          </a:prstGeom>
          <a:solidFill>
            <a:srgbClr val="F4E6BE"/>
          </a:solidFill>
          <a:ln/>
        </p:spPr>
      </p:sp>
      <p:pic>
        <p:nvPicPr>
          <p:cNvPr id="21" name="Image 2" descr="Not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73328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32120" y="55778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Prices and deposits are shown as advertised in the supplied flyer and must be confirmed with the company.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card"/>
          <p:cNvSpPr/>
          <p:nvPr/>
        </p:nvSpPr>
        <p:spPr>
          <a:xfrm>
            <a:off x="457200" y="457200"/>
            <a:ext cx="4846320" cy="5760720"/>
          </a:xfrm>
          <a:prstGeom prst="roundRect">
            <a:avLst>
              <a:gd name="adj" fmla="val 4151"/>
            </a:avLst>
          </a:prstGeom>
          <a:solidFill>
            <a:srgbClr val="1F3B2C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777240" y="77724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Documents for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Independent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56616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Prospective buyers should contact the company to confirm which documents are available for Harmony Gardens and how to arrange an independent review.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Listing a document type here does not mean it has been independently verified or reviewed.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4572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Document types identified by the company</a:t>
            </a:r>
            <a:endParaRPr lang="en-US" sz="1500" dirty="0"/>
          </a:p>
        </p:txBody>
      </p:sp>
      <p:sp>
        <p:nvSpPr>
          <p:cNvPr id="6" name="Document pill"/>
          <p:cNvSpPr/>
          <p:nvPr/>
        </p:nvSpPr>
        <p:spPr>
          <a:xfrm>
            <a:off x="5577840" y="960120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1F3B2C"/>
          </a:solidFill>
          <a:ln/>
        </p:spPr>
      </p:sp>
      <p:sp>
        <p:nvSpPr>
          <p:cNvPr id="7" name="Icon circle"/>
          <p:cNvSpPr/>
          <p:nvPr/>
        </p:nvSpPr>
        <p:spPr>
          <a:xfrm>
            <a:off x="5733288" y="1060704"/>
            <a:ext cx="438912" cy="438912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405" y="1174821"/>
            <a:ext cx="210678" cy="2106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55080" y="9601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Certificate of Deposit from the Surveyor-General’s Office</a:t>
            </a:r>
            <a:endParaRPr lang="en-US" sz="1600" dirty="0"/>
          </a:p>
        </p:txBody>
      </p:sp>
      <p:sp>
        <p:nvSpPr>
          <p:cNvPr id="10" name="Document pill"/>
          <p:cNvSpPr/>
          <p:nvPr/>
        </p:nvSpPr>
        <p:spPr>
          <a:xfrm>
            <a:off x="5577840" y="1719072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2F7D4A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5733288" y="1819656"/>
            <a:ext cx="438912" cy="438912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405" y="1933773"/>
            <a:ext cx="210678" cy="21067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55080" y="17190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Deed of Conveyance</a:t>
            </a:r>
            <a:endParaRPr lang="en-US" sz="1600" dirty="0"/>
          </a:p>
        </p:txBody>
      </p:sp>
      <p:sp>
        <p:nvSpPr>
          <p:cNvPr id="14" name="Document pill"/>
          <p:cNvSpPr/>
          <p:nvPr/>
        </p:nvSpPr>
        <p:spPr>
          <a:xfrm>
            <a:off x="5577840" y="2478024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B8D98F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5733288" y="2578608"/>
            <a:ext cx="438912" cy="438912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05" y="2692725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47802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Registered Survey Plan</a:t>
            </a:r>
            <a:endParaRPr lang="en-US" sz="1600" dirty="0"/>
          </a:p>
        </p:txBody>
      </p:sp>
      <p:sp>
        <p:nvSpPr>
          <p:cNvPr id="18" name="Document pill"/>
          <p:cNvSpPr/>
          <p:nvPr/>
        </p:nvSpPr>
        <p:spPr>
          <a:xfrm>
            <a:off x="5577840" y="3236976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5733288" y="3337560"/>
            <a:ext cx="438912" cy="438912"/>
          </a:xfrm>
          <a:prstGeom prst="ellipse">
            <a:avLst/>
          </a:prstGeom>
          <a:solidFill>
            <a:srgbClr val="E8EEDD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405" y="3451677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23697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Survey Layout</a:t>
            </a:r>
            <a:endParaRPr lang="en-US" sz="1600" dirty="0"/>
          </a:p>
        </p:txBody>
      </p:sp>
      <p:sp>
        <p:nvSpPr>
          <p:cNvPr id="22" name="Document pill"/>
          <p:cNvSpPr/>
          <p:nvPr/>
        </p:nvSpPr>
        <p:spPr>
          <a:xfrm>
            <a:off x="5577840" y="3995928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1F3B2C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5733288" y="4096512"/>
            <a:ext cx="438912" cy="438912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24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405" y="4210629"/>
            <a:ext cx="210678" cy="21067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355080" y="39959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Search Reports</a:t>
            </a:r>
            <a:endParaRPr lang="en-US" sz="1600" dirty="0"/>
          </a:p>
        </p:txBody>
      </p:sp>
      <p:sp>
        <p:nvSpPr>
          <p:cNvPr id="26" name="Document pill"/>
          <p:cNvSpPr/>
          <p:nvPr/>
        </p:nvSpPr>
        <p:spPr>
          <a:xfrm>
            <a:off x="5577840" y="4754880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2F7D4A"/>
          </a:solidFill>
          <a:ln/>
        </p:spPr>
      </p:sp>
      <p:sp>
        <p:nvSpPr>
          <p:cNvPr id="27" name="Icon circle"/>
          <p:cNvSpPr/>
          <p:nvPr/>
        </p:nvSpPr>
        <p:spPr>
          <a:xfrm>
            <a:off x="5733288" y="4855464"/>
            <a:ext cx="438912" cy="438912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28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405" y="4969581"/>
            <a:ext cx="210678" cy="21067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55080" y="4754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Developmental Approval Letters</a:t>
            </a:r>
            <a:endParaRPr lang="en-US" sz="1600" dirty="0"/>
          </a:p>
        </p:txBody>
      </p:sp>
      <p:sp>
        <p:nvSpPr>
          <p:cNvPr id="30" name="Document pill"/>
          <p:cNvSpPr/>
          <p:nvPr/>
        </p:nvSpPr>
        <p:spPr>
          <a:xfrm>
            <a:off x="5577840" y="5513832"/>
            <a:ext cx="6153912" cy="640080"/>
          </a:xfrm>
          <a:prstGeom prst="roundRect">
            <a:avLst>
              <a:gd name="adj" fmla="val 25714"/>
            </a:avLst>
          </a:prstGeom>
          <a:solidFill>
            <a:srgbClr val="B8D98F"/>
          </a:solidFill>
          <a:ln/>
        </p:spPr>
      </p:sp>
      <p:sp>
        <p:nvSpPr>
          <p:cNvPr id="31" name="Icon circle"/>
          <p:cNvSpPr/>
          <p:nvPr/>
        </p:nvSpPr>
        <p:spPr>
          <a:xfrm>
            <a:off x="5733288" y="5614416"/>
            <a:ext cx="438912" cy="438912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2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7405" y="5728533"/>
            <a:ext cx="210678" cy="21067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55080" y="551383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Environmental Assessment Clearance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Construction and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Property Details</a:t>
            </a:r>
            <a:endParaRPr lang="en-US" sz="3800" dirty="0"/>
          </a:p>
        </p:txBody>
      </p:sp>
      <p:sp>
        <p:nvSpPr>
          <p:cNvPr id="3" name="Divider"/>
          <p:cNvSpPr/>
          <p:nvPr/>
        </p:nvSpPr>
        <p:spPr>
          <a:xfrm>
            <a:off x="3611880" y="2148840"/>
            <a:ext cx="0" cy="393192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4" name="Divider"/>
          <p:cNvSpPr/>
          <p:nvPr/>
        </p:nvSpPr>
        <p:spPr>
          <a:xfrm>
            <a:off x="548640" y="4114800"/>
            <a:ext cx="612648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Detailed specifications and floor plans</a:t>
            </a:r>
            <a:endParaRPr lang="en-US" sz="1700" dirty="0"/>
          </a:p>
        </p:txBody>
      </p:sp>
      <p:sp>
        <p:nvSpPr>
          <p:cNvPr id="6" name="Status chip"/>
          <p:cNvSpPr txBox="1"/>
          <p:nvPr/>
        </p:nvSpPr>
        <p:spPr>
          <a:xfrm>
            <a:off x="548640" y="310896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provided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Current dated construction photos or progress evidence</a:t>
            </a:r>
            <a:endParaRPr lang="en-US" sz="1700" dirty="0"/>
          </a:p>
        </p:txBody>
      </p:sp>
      <p:sp>
        <p:nvSpPr>
          <p:cNvPr id="8" name="Status chip"/>
          <p:cNvSpPr txBox="1"/>
          <p:nvPr/>
        </p:nvSpPr>
        <p:spPr>
          <a:xfrm>
            <a:off x="3794760" y="310896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provided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Delivery conditions or factors affecting timing</a:t>
            </a:r>
            <a:endParaRPr lang="en-US" sz="1700" dirty="0"/>
          </a:p>
        </p:txBody>
      </p:sp>
      <p:sp>
        <p:nvSpPr>
          <p:cNvPr id="10" name="Status chip"/>
          <p:cNvSpPr txBox="1"/>
          <p:nvPr/>
        </p:nvSpPr>
        <p:spPr>
          <a:xfrm>
            <a:off x="548640" y="5303520"/>
            <a:ext cx="169164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4343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Image labels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7548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Each image must be labelled: current construction (dated), show home, completed property, or computer-generated.</a:t>
            </a:r>
            <a:endParaRPr lang="en-US" sz="1400" dirty="0"/>
          </a:p>
        </p:txBody>
      </p:sp>
      <p:sp>
        <p:nvSpPr>
          <p:cNvPr id="13" name="Status tile"/>
          <p:cNvSpPr/>
          <p:nvPr/>
        </p:nvSpPr>
        <p:spPr>
          <a:xfrm>
            <a:off x="7040880" y="457200"/>
            <a:ext cx="2240280" cy="1874520"/>
          </a:xfrm>
          <a:prstGeom prst="roundRect">
            <a:avLst>
              <a:gd name="adj" fmla="val 10732"/>
            </a:avLst>
          </a:prstGeom>
          <a:solidFill>
            <a:srgbClr val="B8D9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64008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Ongoing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Construction status</a:t>
            </a:r>
            <a:endParaRPr lang="en-US" sz="3000" dirty="0"/>
          </a:p>
        </p:txBody>
      </p:sp>
      <p:sp>
        <p:nvSpPr>
          <p:cNvPr id="15" name="Delivery tile"/>
          <p:cNvSpPr/>
          <p:nvPr/>
        </p:nvSpPr>
        <p:spPr>
          <a:xfrm>
            <a:off x="9491472" y="457200"/>
            <a:ext cx="2240280" cy="1874520"/>
          </a:xfrm>
          <a:prstGeom prst="roundRect">
            <a:avLst>
              <a:gd name="adj" fmla="val 10732"/>
            </a:avLst>
          </a:prstGeom>
          <a:solidFill>
            <a:srgbClr val="2F7D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20072" y="64008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2027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Expected delivery, pending confirmation</a:t>
            </a:r>
            <a:endParaRPr lang="en-US" sz="3000" dirty="0"/>
          </a:p>
        </p:txBody>
      </p:sp>
      <p:sp>
        <p:nvSpPr>
          <p:cNvPr id="17" name="Image placeholder"/>
          <p:cNvSpPr/>
          <p:nvPr/>
        </p:nvSpPr>
        <p:spPr>
          <a:xfrm>
            <a:off x="7040880" y="2560320"/>
            <a:ext cx="4690872" cy="3657600"/>
          </a:xfrm>
          <a:prstGeom prst="roundRect">
            <a:avLst>
              <a:gd name="adj" fmla="val 5500"/>
            </a:avLst>
          </a:prstGeom>
          <a:solidFill>
            <a:srgbClr val="2A4A38"/>
          </a:solidFill>
          <a:ln w="15875">
            <a:solidFill>
              <a:srgbClr val="B8D98F"/>
            </a:solidFill>
            <a:prstDash val="dash"/>
          </a:ln>
        </p:spPr>
      </p:sp>
      <p:sp>
        <p:nvSpPr>
          <p:cNvPr id="18" name="Icon circle"/>
          <p:cNvSpPr/>
          <p:nvPr/>
        </p:nvSpPr>
        <p:spPr>
          <a:xfrm>
            <a:off x="8997696" y="3154680"/>
            <a:ext cx="777240" cy="7772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9" name="Icon" descr="Image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9778" y="3356762"/>
            <a:ext cx="373075" cy="373075"/>
          </a:xfrm>
          <a:prstGeom prst="rect">
            <a:avLst/>
          </a:prstGeom>
        </p:spPr>
      </p:pic>
      <p:sp>
        <p:nvSpPr>
          <p:cNvPr id="20" name="Placeholder text"/>
          <p:cNvSpPr txBox="1"/>
          <p:nvPr/>
        </p:nvSpPr>
        <p:spPr>
          <a:xfrm>
            <a:off x="7360920" y="4114800"/>
            <a:ext cx="4050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Construction image placeholder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Use only supplied, dated images, each labelled accurately.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ner"/>
          <p:cNvSpPr/>
          <p:nvPr/>
        </p:nvSpPr>
        <p:spPr>
          <a:xfrm>
            <a:off x="457200" y="457200"/>
            <a:ext cx="11274552" cy="1691640"/>
          </a:xfrm>
          <a:prstGeom prst="roundRect">
            <a:avLst>
              <a:gd name="adj" fmla="val 11892"/>
            </a:avLst>
          </a:prstGeom>
          <a:solidFill>
            <a:srgbClr val="1F3B2C"/>
          </a:solidFill>
          <a:ln/>
        </p:spPr>
      </p:sp>
      <p:sp>
        <p:nvSpPr>
          <p:cNvPr id="3" name="Title"/>
          <p:cNvSpPr txBox="1"/>
          <p:nvPr/>
        </p:nvSpPr>
        <p:spPr>
          <a:xfrm>
            <a:off x="7772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Costs and Payment Information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Understand the full cost before you pay a reservation fee</a:t>
            </a:r>
            <a:endParaRPr lang="en-US" sz="1700" dirty="0"/>
          </a:p>
        </p:txBody>
      </p:sp>
      <p:sp>
        <p:nvSpPr>
          <p:cNvPr id="5" name="Cost items"/>
          <p:cNvSpPr/>
          <p:nvPr/>
        </p:nvSpPr>
        <p:spPr>
          <a:xfrm>
            <a:off x="457200" y="2377440"/>
            <a:ext cx="11274552" cy="2423160"/>
          </a:xfrm>
          <a:prstGeom prst="roundRect">
            <a:avLst>
              <a:gd name="adj" fmla="val 8302"/>
            </a:avLst>
          </a:prstGeom>
          <a:solidFill>
            <a:srgbClr val="B8D98F"/>
          </a:solidFill>
          <a:ln/>
        </p:spPr>
      </p:sp>
      <p:sp>
        <p:nvSpPr>
          <p:cNvPr id="6" name="Icon circle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7944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33756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Full payment schedules</a:t>
            </a:r>
            <a:endParaRPr lang="en-US" sz="1700" dirty="0"/>
          </a:p>
        </p:txBody>
      </p:sp>
      <p:sp>
        <p:nvSpPr>
          <p:cNvPr id="9" name="Status chip"/>
          <p:cNvSpPr txBox="1"/>
          <p:nvPr/>
        </p:nvSpPr>
        <p:spPr>
          <a:xfrm>
            <a:off x="731520" y="41605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10" name="Divider"/>
          <p:cNvSpPr/>
          <p:nvPr/>
        </p:nvSpPr>
        <p:spPr>
          <a:xfrm>
            <a:off x="3275838" y="2651760"/>
            <a:ext cx="0" cy="187452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550158" y="2651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804" y="279440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0158" y="333756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One-time charges</a:t>
            </a:r>
            <a:endParaRPr lang="en-US" sz="1700" dirty="0"/>
          </a:p>
        </p:txBody>
      </p:sp>
      <p:sp>
        <p:nvSpPr>
          <p:cNvPr id="14" name="Status chip"/>
          <p:cNvSpPr txBox="1"/>
          <p:nvPr/>
        </p:nvSpPr>
        <p:spPr>
          <a:xfrm>
            <a:off x="3550158" y="41605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15" name="Divider"/>
          <p:cNvSpPr/>
          <p:nvPr/>
        </p:nvSpPr>
        <p:spPr>
          <a:xfrm>
            <a:off x="6094476" y="2651760"/>
            <a:ext cx="0" cy="187452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368796" y="2651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27944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8796" y="333756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Ongoing estate or maintenance costs</a:t>
            </a:r>
            <a:endParaRPr lang="en-US" sz="1700" dirty="0"/>
          </a:p>
        </p:txBody>
      </p:sp>
      <p:sp>
        <p:nvSpPr>
          <p:cNvPr id="19" name="Status chip"/>
          <p:cNvSpPr txBox="1"/>
          <p:nvPr/>
        </p:nvSpPr>
        <p:spPr>
          <a:xfrm>
            <a:off x="6368796" y="41605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20" name="Divider"/>
          <p:cNvSpPr/>
          <p:nvPr/>
        </p:nvSpPr>
        <p:spPr>
          <a:xfrm>
            <a:off x="8913114" y="2651760"/>
            <a:ext cx="0" cy="187452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21" name="Icon circle"/>
          <p:cNvSpPr/>
          <p:nvPr/>
        </p:nvSpPr>
        <p:spPr>
          <a:xfrm>
            <a:off x="9187434" y="26517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080" y="27944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87434" y="3337560"/>
            <a:ext cx="2315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the advertised deposits cover</a:t>
            </a:r>
            <a:endParaRPr lang="en-US" sz="1700" dirty="0"/>
          </a:p>
        </p:txBody>
      </p:sp>
      <p:sp>
        <p:nvSpPr>
          <p:cNvPr id="24" name="Status chip"/>
          <p:cNvSpPr txBox="1"/>
          <p:nvPr/>
        </p:nvSpPr>
        <p:spPr>
          <a:xfrm>
            <a:off x="9187434" y="41605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25" name="Payment safety"/>
          <p:cNvSpPr/>
          <p:nvPr/>
        </p:nvSpPr>
        <p:spPr>
          <a:xfrm>
            <a:off x="457200" y="5029200"/>
            <a:ext cx="11274552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/>
        </p:spPr>
      </p:sp>
      <p:sp>
        <p:nvSpPr>
          <p:cNvPr id="26" name="Icon circle"/>
          <p:cNvSpPr/>
          <p:nvPr/>
        </p:nvSpPr>
        <p:spPr>
          <a:xfrm>
            <a:off x="731520" y="5303520"/>
            <a:ext cx="640080" cy="64008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27" name="Icon" descr="Payment safe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46994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00200" y="5029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Payment safety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This presentation does not include bank account details. Request secure, verified payment instructions directly from the company before making any payment.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Buying with Confidence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Practical guidance for every buyer, in Nigeria or in the diaspora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9165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1916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Documents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91658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Ask which title and approval documents are available for independent review.</a:t>
            </a:r>
            <a:endParaRPr lang="en-US" sz="1500" dirty="0"/>
          </a:p>
        </p:txBody>
      </p:sp>
      <p:sp>
        <p:nvSpPr>
          <p:cNvPr id="7" name="Divider"/>
          <p:cNvSpPr/>
          <p:nvPr/>
        </p:nvSpPr>
        <p:spPr>
          <a:xfrm>
            <a:off x="2648102" y="2103120"/>
            <a:ext cx="0" cy="393192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5262" y="2103120"/>
            <a:ext cx="19165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785262" y="3017520"/>
            <a:ext cx="1916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Your advisers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785262" y="3520440"/>
            <a:ext cx="191658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Buyers may use their own solicitor, surveyor, or other adviser.</a:t>
            </a:r>
            <a:endParaRPr lang="en-US" sz="1500" dirty="0"/>
          </a:p>
        </p:txBody>
      </p:sp>
      <p:sp>
        <p:nvSpPr>
          <p:cNvPr id="11" name="Divider"/>
          <p:cNvSpPr/>
          <p:nvPr/>
        </p:nvSpPr>
        <p:spPr>
          <a:xfrm>
            <a:off x="4884725" y="2103120"/>
            <a:ext cx="0" cy="393192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1885" y="2103120"/>
            <a:ext cx="19165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021885" y="3017520"/>
            <a:ext cx="1916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Full costs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21885" y="3520440"/>
            <a:ext cx="191658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Request the full payment schedule and all applicable charges before paying a reservation fee.</a:t>
            </a:r>
            <a:endParaRPr lang="en-US" sz="1500" dirty="0"/>
          </a:p>
        </p:txBody>
      </p:sp>
      <p:sp>
        <p:nvSpPr>
          <p:cNvPr id="15" name="Divider"/>
          <p:cNvSpPr/>
          <p:nvPr/>
        </p:nvSpPr>
        <p:spPr>
          <a:xfrm>
            <a:off x="7121347" y="2103120"/>
            <a:ext cx="0" cy="393192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58507" y="2103120"/>
            <a:ext cx="19165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7258507" y="3017520"/>
            <a:ext cx="1916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Construction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58507" y="3520440"/>
            <a:ext cx="191658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Ask for dated construction updates and confirm the expected delivery date.</a:t>
            </a:r>
            <a:endParaRPr lang="en-US" sz="1500" dirty="0"/>
          </a:p>
        </p:txBody>
      </p:sp>
      <p:sp>
        <p:nvSpPr>
          <p:cNvPr id="19" name="Divider"/>
          <p:cNvSpPr/>
          <p:nvPr/>
        </p:nvSpPr>
        <p:spPr>
          <a:xfrm>
            <a:off x="9357970" y="2103120"/>
            <a:ext cx="0" cy="393192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95130" y="2103120"/>
            <a:ext cx="19165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495130" y="3017520"/>
            <a:ext cx="19165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Estimates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95130" y="3520440"/>
            <a:ext cx="191658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Any rental, occupancy, or appreciation estimate should include its assumptions and supporting basis; forecasts are not guaranteed outcomes.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and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Enquiries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Team members supplied by the company</a:t>
            </a:r>
            <a:endParaRPr lang="en-US" sz="1500" dirty="0"/>
          </a:p>
        </p:txBody>
      </p:sp>
      <p:sp>
        <p:nvSpPr>
          <p:cNvPr id="4" name="Divider"/>
          <p:cNvSpPr/>
          <p:nvPr/>
        </p:nvSpPr>
        <p:spPr>
          <a:xfrm>
            <a:off x="548640" y="2514600"/>
            <a:ext cx="585216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28401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6243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Mrs. Joy Omereji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Human Resource Manager</a:t>
            </a:r>
            <a:endParaRPr lang="en-US" sz="1800" dirty="0"/>
          </a:p>
        </p:txBody>
      </p:sp>
      <p:sp>
        <p:nvSpPr>
          <p:cNvPr id="8" name="Divider"/>
          <p:cNvSpPr/>
          <p:nvPr/>
        </p:nvSpPr>
        <p:spPr>
          <a:xfrm>
            <a:off x="548640" y="3429000"/>
            <a:ext cx="585216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7545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5387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Ms. Benedicta Ereba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Administrative Assistant</a:t>
            </a:r>
            <a:endParaRPr lang="en-US" sz="1800" dirty="0"/>
          </a:p>
        </p:txBody>
      </p:sp>
      <p:sp>
        <p:nvSpPr>
          <p:cNvPr id="12" name="Divider"/>
          <p:cNvSpPr/>
          <p:nvPr/>
        </p:nvSpPr>
        <p:spPr>
          <a:xfrm>
            <a:off x="548640" y="4343400"/>
            <a:ext cx="585216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6689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44531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Ms. Confidence Onwuzurike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Customer Care Representative</a:t>
            </a:r>
            <a:endParaRPr lang="en-US" sz="1800" dirty="0"/>
          </a:p>
        </p:txBody>
      </p:sp>
      <p:sp>
        <p:nvSpPr>
          <p:cNvPr id="16" name="Divider"/>
          <p:cNvSpPr/>
          <p:nvPr/>
        </p:nvSpPr>
        <p:spPr>
          <a:xfrm>
            <a:off x="548640" y="5257800"/>
            <a:ext cx="585216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rgbClr val="B8D98F"/>
          </a:solidFill>
          <a:ln/>
        </p:spPr>
      </p:sp>
      <p:pic>
        <p:nvPicPr>
          <p:cNvPr id="18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55833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53675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Daniel Onyekachi Onwuegbuchu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Administrative Manager</a:t>
            </a:r>
            <a:endParaRPr lang="en-US" sz="1800" dirty="0"/>
          </a:p>
        </p:txBody>
      </p:sp>
      <p:sp>
        <p:nvSpPr>
          <p:cNvPr id="20" name="Divider"/>
          <p:cNvSpPr/>
          <p:nvPr/>
        </p:nvSpPr>
        <p:spPr>
          <a:xfrm>
            <a:off x="548640" y="6172200"/>
            <a:ext cx="5852160" cy="0"/>
          </a:xfrm>
          <a:prstGeom prst="line">
            <a:avLst/>
          </a:prstGeom>
          <a:noFill/>
          <a:ln w="9525">
            <a:solidFill>
              <a:srgbClr val="3E5C4B"/>
            </a:solidFill>
            <a:prstDash val="solid"/>
          </a:ln>
        </p:spPr>
      </p:sp>
      <p:sp>
        <p:nvSpPr>
          <p:cNvPr id="21" name="Enquiries card"/>
          <p:cNvSpPr/>
          <p:nvPr/>
        </p:nvSpPr>
        <p:spPr>
          <a:xfrm>
            <a:off x="6812280" y="457200"/>
            <a:ext cx="4919472" cy="5760720"/>
          </a:xfrm>
          <a:prstGeom prst="roundRect">
            <a:avLst>
              <a:gd name="adj" fmla="val 4089"/>
            </a:avLst>
          </a:prstGeom>
          <a:solidFill>
            <a:srgbClr val="B8D98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132320" y="731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Enquiries</a:t>
            </a:r>
            <a:endParaRPr lang="en-US" sz="26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Event enquiry lead</a:t>
            </a:r>
            <a:endParaRPr lang="en-US" sz="1500" dirty="0"/>
          </a:p>
        </p:txBody>
      </p:sp>
      <p:sp>
        <p:nvSpPr>
          <p:cNvPr id="24" name="Status chip"/>
          <p:cNvSpPr txBox="1"/>
          <p:nvPr/>
        </p:nvSpPr>
        <p:spPr>
          <a:xfrm>
            <a:off x="9692640" y="16459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25" name="Divider"/>
          <p:cNvSpPr/>
          <p:nvPr/>
        </p:nvSpPr>
        <p:spPr>
          <a:xfrm>
            <a:off x="7132320" y="2286000"/>
            <a:ext cx="4297680" cy="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132320" y="2377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After-sales contact</a:t>
            </a:r>
            <a:endParaRPr lang="en-US" sz="1500" dirty="0"/>
          </a:p>
        </p:txBody>
      </p:sp>
      <p:sp>
        <p:nvSpPr>
          <p:cNvPr id="27" name="Status chip"/>
          <p:cNvSpPr txBox="1"/>
          <p:nvPr/>
        </p:nvSpPr>
        <p:spPr>
          <a:xfrm>
            <a:off x="9692640" y="25603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28" name="Divider"/>
          <p:cNvSpPr/>
          <p:nvPr/>
        </p:nvSpPr>
        <p:spPr>
          <a:xfrm>
            <a:off x="7132320" y="3200400"/>
            <a:ext cx="4297680" cy="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13232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Direct contact details for named representatives</a:t>
            </a:r>
            <a:endParaRPr lang="en-US" sz="1500" dirty="0"/>
          </a:p>
        </p:txBody>
      </p:sp>
      <p:sp>
        <p:nvSpPr>
          <p:cNvPr id="30" name="Status chip"/>
          <p:cNvSpPr txBox="1"/>
          <p:nvPr/>
        </p:nvSpPr>
        <p:spPr>
          <a:xfrm>
            <a:off x="9692640" y="34747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31" name="Divider"/>
          <p:cNvSpPr/>
          <p:nvPr/>
        </p:nvSpPr>
        <p:spPr>
          <a:xfrm>
            <a:off x="7132320" y="4114800"/>
            <a:ext cx="4297680" cy="0"/>
          </a:xfrm>
          <a:prstGeom prst="line">
            <a:avLst/>
          </a:prstGeom>
          <a:noFill/>
          <a:ln w="9525">
            <a:solidFill>
              <a:srgbClr val="8FB5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132320" y="42062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Enquiry response target</a:t>
            </a:r>
            <a:endParaRPr lang="en-US" sz="1500" dirty="0"/>
          </a:p>
        </p:txBody>
      </p:sp>
      <p:sp>
        <p:nvSpPr>
          <p:cNvPr id="33" name="Status chip"/>
          <p:cNvSpPr txBox="1"/>
          <p:nvPr/>
        </p:nvSpPr>
        <p:spPr>
          <a:xfrm>
            <a:off x="9692640" y="4389120"/>
            <a:ext cx="173736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To be confirmed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7132320" y="5257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Roles are shown as supplied. Responsibility for event and after-sales enquiries is to be confirmed by the company.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tx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We welcome your questions</a:t>
            </a:r>
            <a:endParaRPr lang="en-US" sz="1800" dirty="0"/>
          </a:p>
        </p:txBody>
      </p:sp>
      <p:sp>
        <p:nvSpPr>
          <p:cNvPr id="4" name="Contact card"/>
          <p:cNvSpPr/>
          <p:nvPr/>
        </p:nvSpPr>
        <p:spPr>
          <a:xfrm>
            <a:off x="7818120" y="457200"/>
            <a:ext cx="3913632" cy="1280160"/>
          </a:xfrm>
          <a:prstGeom prst="roundRect">
            <a:avLst>
              <a:gd name="adj" fmla="val 15714"/>
            </a:avLst>
          </a:prstGeom>
          <a:solidFill>
            <a:srgbClr val="E0EAEB"/>
          </a:solidFill>
          <a:ln/>
        </p:spPr>
      </p:sp>
      <p:pic>
        <p:nvPicPr>
          <p:cNvPr id="5" name="Company logo" descr="Princy &amp; Eddy Properti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94360"/>
            <a:ext cx="1563624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0" y="4572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Contact details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To be confirmed</a:t>
            </a:r>
            <a:endParaRPr lang="en-US" sz="1600" dirty="0"/>
          </a:p>
        </p:txBody>
      </p:sp>
      <p:sp>
        <p:nvSpPr>
          <p:cNvPr id="7" name="Timeline"/>
          <p:cNvSpPr/>
          <p:nvPr/>
        </p:nvSpPr>
        <p:spPr>
          <a:xfrm>
            <a:off x="731520" y="3977640"/>
            <a:ext cx="10725912" cy="0"/>
          </a:xfrm>
          <a:prstGeom prst="line">
            <a:avLst/>
          </a:prstGeom>
          <a:noFill/>
          <a:ln w="19050">
            <a:solidFill>
              <a:srgbClr val="2F7D4A"/>
            </a:solidFill>
            <a:prstDash val="dash"/>
          </a:ln>
        </p:spPr>
      </p:sp>
      <p:sp>
        <p:nvSpPr>
          <p:cNvPr id="8" name="Step card"/>
          <p:cNvSpPr/>
          <p:nvPr/>
        </p:nvSpPr>
        <p:spPr>
          <a:xfrm>
            <a:off x="548640" y="2011680"/>
            <a:ext cx="2377440" cy="1463040"/>
          </a:xfrm>
          <a:prstGeom prst="roundRect">
            <a:avLst>
              <a:gd name="adj" fmla="val 13750"/>
            </a:avLst>
          </a:prstGeom>
          <a:solidFill>
            <a:srgbClr val="1F3B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" y="2011680"/>
            <a:ext cx="1975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Enquire about current Harmony Gardens availability.</a:t>
            </a:r>
            <a:endParaRPr lang="en-US" sz="1500" dirty="0"/>
          </a:p>
        </p:txBody>
      </p:sp>
      <p:sp>
        <p:nvSpPr>
          <p:cNvPr id="10" name="Divider"/>
          <p:cNvSpPr/>
          <p:nvPr/>
        </p:nvSpPr>
        <p:spPr>
          <a:xfrm>
            <a:off x="1737360" y="3474720"/>
            <a:ext cx="0" cy="502920"/>
          </a:xfrm>
          <a:prstGeom prst="line">
            <a:avLst/>
          </a:prstGeom>
          <a:noFill/>
          <a:ln w="9525">
            <a:solidFill>
              <a:srgbClr val="2F7D4A"/>
            </a:solidFill>
            <a:prstDash val="solid"/>
          </a:ln>
        </p:spPr>
      </p:sp>
      <p:sp>
        <p:nvSpPr>
          <p:cNvPr id="11" name="Step number"/>
          <p:cNvSpPr txBox="1"/>
          <p:nvPr/>
        </p:nvSpPr>
        <p:spPr>
          <a:xfrm>
            <a:off x="1490472" y="373075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F7D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Step card"/>
          <p:cNvSpPr/>
          <p:nvPr/>
        </p:nvSpPr>
        <p:spPr>
          <a:xfrm>
            <a:off x="2724912" y="4526280"/>
            <a:ext cx="2377440" cy="1463040"/>
          </a:xfrm>
          <a:prstGeom prst="roundRect">
            <a:avLst>
              <a:gd name="adj" fmla="val 13750"/>
            </a:avLst>
          </a:prstGeom>
          <a:solidFill>
            <a:srgbClr val="B8D98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926080" y="4526280"/>
            <a:ext cx="1975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Request the complete payment schedule and list of charges.</a:t>
            </a:r>
            <a:endParaRPr lang="en-US" sz="1500" dirty="0"/>
          </a:p>
        </p:txBody>
      </p:sp>
      <p:sp>
        <p:nvSpPr>
          <p:cNvPr id="14" name="Divider"/>
          <p:cNvSpPr/>
          <p:nvPr/>
        </p:nvSpPr>
        <p:spPr>
          <a:xfrm>
            <a:off x="3913632" y="3977640"/>
            <a:ext cx="0" cy="548640"/>
          </a:xfrm>
          <a:prstGeom prst="line">
            <a:avLst/>
          </a:prstGeom>
          <a:noFill/>
          <a:ln w="9525">
            <a:solidFill>
              <a:srgbClr val="2F7D4A"/>
            </a:solidFill>
            <a:prstDash val="solid"/>
          </a:ln>
        </p:spPr>
      </p:sp>
      <p:sp>
        <p:nvSpPr>
          <p:cNvPr id="15" name="Step number"/>
          <p:cNvSpPr txBox="1"/>
          <p:nvPr/>
        </p:nvSpPr>
        <p:spPr>
          <a:xfrm>
            <a:off x="3666744" y="373075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F7D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Step card"/>
          <p:cNvSpPr/>
          <p:nvPr/>
        </p:nvSpPr>
        <p:spPr>
          <a:xfrm>
            <a:off x="4901184" y="2011680"/>
            <a:ext cx="2377440" cy="1463040"/>
          </a:xfrm>
          <a:prstGeom prst="roundRect">
            <a:avLst>
              <a:gd name="adj" fmla="val 13750"/>
            </a:avLst>
          </a:prstGeom>
          <a:solidFill>
            <a:srgbClr val="2F7D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02352" y="2011680"/>
            <a:ext cx="1975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Ask which documents are available for independent review.</a:t>
            </a:r>
            <a:endParaRPr lang="en-US" sz="1500" dirty="0"/>
          </a:p>
        </p:txBody>
      </p:sp>
      <p:sp>
        <p:nvSpPr>
          <p:cNvPr id="18" name="Divider"/>
          <p:cNvSpPr/>
          <p:nvPr/>
        </p:nvSpPr>
        <p:spPr>
          <a:xfrm>
            <a:off x="6089904" y="3474720"/>
            <a:ext cx="0" cy="502920"/>
          </a:xfrm>
          <a:prstGeom prst="line">
            <a:avLst/>
          </a:prstGeom>
          <a:noFill/>
          <a:ln w="9525">
            <a:solidFill>
              <a:srgbClr val="2F7D4A"/>
            </a:solidFill>
            <a:prstDash val="solid"/>
          </a:ln>
        </p:spPr>
      </p:sp>
      <p:sp>
        <p:nvSpPr>
          <p:cNvPr id="19" name="Step number"/>
          <p:cNvSpPr txBox="1"/>
          <p:nvPr/>
        </p:nvSpPr>
        <p:spPr>
          <a:xfrm>
            <a:off x="5843016" y="373075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F7D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tep card"/>
          <p:cNvSpPr/>
          <p:nvPr/>
        </p:nvSpPr>
        <p:spPr>
          <a:xfrm>
            <a:off x="7077456" y="4526280"/>
            <a:ext cx="2377440" cy="146304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278624" y="4526280"/>
            <a:ext cx="1975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Request specifications, floor plans, and dated construction updates.</a:t>
            </a:r>
            <a:endParaRPr lang="en-US" sz="1500" dirty="0"/>
          </a:p>
        </p:txBody>
      </p:sp>
      <p:sp>
        <p:nvSpPr>
          <p:cNvPr id="22" name="Divider"/>
          <p:cNvSpPr/>
          <p:nvPr/>
        </p:nvSpPr>
        <p:spPr>
          <a:xfrm>
            <a:off x="8266176" y="3977640"/>
            <a:ext cx="0" cy="548640"/>
          </a:xfrm>
          <a:prstGeom prst="line">
            <a:avLst/>
          </a:prstGeom>
          <a:noFill/>
          <a:ln w="9525">
            <a:solidFill>
              <a:srgbClr val="2F7D4A"/>
            </a:solidFill>
            <a:prstDash val="solid"/>
          </a:ln>
        </p:spPr>
      </p:sp>
      <p:sp>
        <p:nvSpPr>
          <p:cNvPr id="23" name="Step number"/>
          <p:cNvSpPr txBox="1"/>
          <p:nvPr/>
        </p:nvSpPr>
        <p:spPr>
          <a:xfrm>
            <a:off x="8019288" y="373075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F7D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card"/>
          <p:cNvSpPr/>
          <p:nvPr/>
        </p:nvSpPr>
        <p:spPr>
          <a:xfrm>
            <a:off x="9253728" y="2011680"/>
            <a:ext cx="2377440" cy="1463040"/>
          </a:xfrm>
          <a:prstGeom prst="roundRect">
            <a:avLst>
              <a:gd name="adj" fmla="val 13750"/>
            </a:avLst>
          </a:prstGeom>
          <a:solidFill>
            <a:srgbClr val="1F3B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454896" y="2011680"/>
            <a:ext cx="1975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Arrange a site visit or follow-up conversation.</a:t>
            </a:r>
            <a:endParaRPr lang="en-US" sz="1500" dirty="0"/>
          </a:p>
        </p:txBody>
      </p:sp>
      <p:sp>
        <p:nvSpPr>
          <p:cNvPr id="26" name="Divider"/>
          <p:cNvSpPr/>
          <p:nvPr/>
        </p:nvSpPr>
        <p:spPr>
          <a:xfrm>
            <a:off x="10442448" y="3474720"/>
            <a:ext cx="0" cy="502920"/>
          </a:xfrm>
          <a:prstGeom prst="line">
            <a:avLst/>
          </a:prstGeom>
          <a:noFill/>
          <a:ln w="9525">
            <a:solidFill>
              <a:srgbClr val="2F7D4A"/>
            </a:solidFill>
            <a:prstDash val="solid"/>
          </a:ln>
        </p:spPr>
      </p:sp>
      <p:sp>
        <p:nvSpPr>
          <p:cNvPr id="27" name="Step number"/>
          <p:cNvSpPr txBox="1"/>
          <p:nvPr/>
        </p:nvSpPr>
        <p:spPr>
          <a:xfrm>
            <a:off x="10195560" y="3730752"/>
            <a:ext cx="493776" cy="493776"/>
          </a:xfrm>
          <a:prstGeom prst="ellipse">
            <a:avLst/>
          </a:prstGeom>
          <a:solidFill>
            <a:schemeClr val="bg1"/>
          </a:solidFill>
          <a:ln w="19050">
            <a:solidFill>
              <a:srgbClr val="2F7D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dirty="0">
                <a:solidFill>
                  <a:schemeClr val="accent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Items to Confirm Before the Event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384048"/>
          </a:xfrm>
          <a:prstGeom prst="roundRect">
            <a:avLst>
              <a:gd name="adj" fmla="val 4761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INTERNAL CHECKLIST — REMOVE THIS SLIDE BEFORE PRESENTING</a:t>
            </a:r>
            <a:endParaRPr lang="en-US" sz="1300" dirty="0"/>
          </a:p>
        </p:txBody>
      </p:sp>
      <p:sp>
        <p:nvSpPr>
          <p:cNvPr id="4" name="Panel"/>
          <p:cNvSpPr/>
          <p:nvPr/>
        </p:nvSpPr>
        <p:spPr>
          <a:xfrm>
            <a:off x="457200" y="1965960"/>
            <a:ext cx="5486400" cy="4251960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Missing assets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Approved Harmony Gardens images, each labelled: computer-generated, show home, current construction (dated), or completed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Dated construction progress photos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Detailed specifications and floor plans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Approval to use the Princy &amp; Eddy Properties logo (taken from the company’s receipt template)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 separate Easyland logo or wordmark</a:t>
            </a:r>
            <a:endParaRPr lang="en-US" sz="1400" dirty="0"/>
          </a:p>
        </p:txBody>
      </p:sp>
      <p:sp>
        <p:nvSpPr>
          <p:cNvPr id="7" name="Panel"/>
          <p:cNvSpPr/>
          <p:nvPr/>
        </p:nvSpPr>
        <p:spPr>
          <a:xfrm>
            <a:off x="6245352" y="1965960"/>
            <a:ext cx="5486400" cy="4251960"/>
          </a:xfrm>
          <a:prstGeom prst="roundRect">
            <a:avLst>
              <a:gd name="adj" fmla="val 4731"/>
            </a:avLst>
          </a:prstGeom>
          <a:solidFill>
            <a:srgbClr val="B8D9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Company confirmations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6974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Harmony Gardens availability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Flyer prices and deposits are current; what the deposits cover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Full payment schedules, one-time charges, and ongoing estate or maintenance costs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Q1 2027 delivery date and factors affecting timing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Which documents are available and how to arrange independent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Event enquiry lead, after-sales contact, direct contact details, and response target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Verified, approved contact details for the closing slide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8251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asyland Forest">
  <a:themeElements>
    <a:clrScheme name="Easyland Forest">
      <a:dk1>
        <a:srgbClr val="1C2B22"/>
      </a:dk1>
      <a:lt1>
        <a:srgbClr val="FFFFFF"/>
      </a:lt1>
      <a:dk2>
        <a:srgbClr val="1F3B2C"/>
      </a:dk2>
      <a:lt2>
        <a:srgbClr val="E8EEDD"/>
      </a:lt2>
      <a:accent1>
        <a:srgbClr val="0B5C46"/>
      </a:accent1>
      <a:accent2>
        <a:srgbClr val="B8D98F"/>
      </a:accent2>
      <a:accent3>
        <a:srgbClr val="2F7D4A"/>
      </a:accent3>
      <a:accent4>
        <a:srgbClr val="5E6E63"/>
      </a:accent4>
      <a:accent5>
        <a:srgbClr val="F4E6BE"/>
      </a:accent5>
      <a:accent6>
        <a:srgbClr val="6B4A00"/>
      </a:accent6>
      <a:hlink>
        <a:srgbClr val="0B5C46"/>
      </a:hlink>
      <a:folHlink>
        <a:srgbClr val="5E6E63"/>
      </a:folHlink>
    </a:clrScheme>
    <a:fontScheme name="Easyland Forest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Princy and Eddy Resources Nigeria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Easyland — Harmony Gardens Company Presentation</dc:title>
  <dc:subject>PptxGenJS Presentation</dc:subject>
  <dc:creator>Princy and Eddy Resources Nigeria Limited</dc:creator>
  <cp:lastModifiedBy>Princy and Eddy Resources Nigeria Limited</cp:lastModifiedBy>
  <cp:revision>1</cp:revision>
  <dcterms:created xsi:type="dcterms:W3CDTF">2026-10-20T07:01:58Z</dcterms:created>
  <dcterms:modified xsi:type="dcterms:W3CDTF">2026-10-20T07:01:58Z</dcterms:modified>
</cp:coreProperties>
</file>